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95" r:id="rId9"/>
    <p:sldId id="296" r:id="rId10"/>
    <p:sldId id="262" r:id="rId11"/>
    <p:sldId id="263" r:id="rId12"/>
    <p:sldId id="264" r:id="rId13"/>
    <p:sldId id="297" r:id="rId14"/>
    <p:sldId id="298" r:id="rId15"/>
    <p:sldId id="299" r:id="rId16"/>
    <p:sldId id="265" r:id="rId17"/>
    <p:sldId id="266" r:id="rId18"/>
    <p:sldId id="267" r:id="rId19"/>
    <p:sldId id="300" r:id="rId20"/>
    <p:sldId id="301" r:id="rId21"/>
    <p:sldId id="302" r:id="rId22"/>
    <p:sldId id="268" r:id="rId23"/>
    <p:sldId id="269" r:id="rId24"/>
    <p:sldId id="304" r:id="rId25"/>
    <p:sldId id="305" r:id="rId26"/>
    <p:sldId id="307" r:id="rId27"/>
    <p:sldId id="308" r:id="rId28"/>
    <p:sldId id="309" r:id="rId29"/>
    <p:sldId id="310" r:id="rId30"/>
    <p:sldId id="311" r:id="rId31"/>
    <p:sldId id="312" r:id="rId32"/>
    <p:sldId id="271" r:id="rId33"/>
    <p:sldId id="313" r:id="rId34"/>
    <p:sldId id="314" r:id="rId35"/>
    <p:sldId id="315" r:id="rId36"/>
    <p:sldId id="272" r:id="rId37"/>
    <p:sldId id="291" r:id="rId38"/>
  </p:sldIdLst>
  <p:sldSz cx="12192000" cy="6858000"/>
  <p:notesSz cx="6858000" cy="12192000"/>
  <p:embeddedFontLst>
    <p:embeddedFont>
      <p:font typeface="MiSans" pitchFamily="34" charset="-122"/>
      <p:regular r:id="rId42"/>
    </p:embeddedFont>
    <p:embeddedFont>
      <p:font typeface="MiSans" pitchFamily="34" charset="-120"/>
      <p:regular r:id="rId43"/>
    </p:embeddedFont>
    <p:embeddedFont>
      <p:font typeface="Calibri" panose="020F0502020204030204" charset="0"/>
      <p:regular r:id="rId44"/>
      <p:bold r:id="rId45"/>
      <p:italic r:id="rId46"/>
      <p:boldItalic r:id="rId47"/>
    </p:embeddedFont>
    <p:embeddedFont>
      <p:font typeface="等线" panose="02010600030101010101" charset="-122"/>
      <p:regular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font" Target="fonts/font7.fntdata"/><Relationship Id="rId47" Type="http://schemas.openxmlformats.org/officeDocument/2006/relationships/font" Target="fonts/font6.fntdata"/><Relationship Id="rId46" Type="http://schemas.openxmlformats.org/officeDocument/2006/relationships/font" Target="fonts/font5.fntdata"/><Relationship Id="rId45" Type="http://schemas.openxmlformats.org/officeDocument/2006/relationships/font" Target="fonts/font4.fntdata"/><Relationship Id="rId44" Type="http://schemas.openxmlformats.org/officeDocument/2006/relationships/font" Target="fonts/font3.fntdata"/><Relationship Id="rId43" Type="http://schemas.openxmlformats.org/officeDocument/2006/relationships/font" Target="fonts/font2.fntdata"/><Relationship Id="rId42" Type="http://schemas.openxmlformats.org/officeDocument/2006/relationships/font" Target="fonts/font1.fntdata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4-d2t750lnfo2stf9dihbg.png"/>
          <p:cNvPicPr>
            <a:picLocks noChangeAspect="1"/>
          </p:cNvPicPr>
          <p:nvPr/>
        </p:nvPicPr>
        <p:blipFill>
          <a:blip r:embed="rId1"/>
          <a:srcRect l="190" r="190"/>
          <a:stretch>
            <a:fillRect/>
          </a:stretch>
        </p:blipFill>
        <p:spPr>
          <a:xfrm>
            <a:off x="79375" y="116205"/>
            <a:ext cx="12186920" cy="6855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7615" y="4553585"/>
            <a:ext cx="2198370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黄锐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，朱宏铮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95415" y="4553585"/>
            <a:ext cx="454469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组长：郑德文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组员：黄锐，凌学明，赵鑫，龚子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昊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32305" y="2097405"/>
            <a:ext cx="8327390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Slide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0"/>
            <a:ext cx="12191365" cy="2311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318" y="0"/>
            <a:ext cx="12191365" cy="2311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 rot="5400000">
            <a:off x="1061085" y="3109193"/>
            <a:ext cx="293611" cy="293727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5" name="Text 3"/>
          <p:cNvSpPr/>
          <p:nvPr/>
        </p:nvSpPr>
        <p:spPr>
          <a:xfrm rot="5400000">
            <a:off x="1061085" y="3109193"/>
            <a:ext cx="293611" cy="2937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 rot="5400000">
            <a:off x="1174012" y="3222165"/>
            <a:ext cx="293611" cy="293727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7" name="Text 5"/>
          <p:cNvSpPr/>
          <p:nvPr/>
        </p:nvSpPr>
        <p:spPr>
          <a:xfrm rot="5400000">
            <a:off x="1174012" y="3222165"/>
            <a:ext cx="293611" cy="2937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547802" y="3080385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191487" y="3108063"/>
            <a:ext cx="3904513" cy="64551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LRU-K Replacer 算法</a:t>
            </a: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 rot="5400000">
            <a:off x="1061085" y="4020989"/>
            <a:ext cx="293611" cy="293367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9"/>
          <p:cNvSpPr/>
          <p:nvPr/>
        </p:nvSpPr>
        <p:spPr>
          <a:xfrm rot="5400000">
            <a:off x="1061085" y="4020989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 rot="5400000">
            <a:off x="1174012" y="4133823"/>
            <a:ext cx="293611" cy="293367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1"/>
          <p:cNvSpPr/>
          <p:nvPr/>
        </p:nvSpPr>
        <p:spPr>
          <a:xfrm rot="5400000">
            <a:off x="1174012" y="4133823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547802" y="3992217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2191487" y="4019861"/>
            <a:ext cx="4002536" cy="508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可扩展哈希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 rot="5400000">
            <a:off x="1061085" y="4932186"/>
            <a:ext cx="293611" cy="293367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7" name="Text 15"/>
          <p:cNvSpPr/>
          <p:nvPr/>
        </p:nvSpPr>
        <p:spPr>
          <a:xfrm rot="5400000">
            <a:off x="1061085" y="4932186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 rot="5400000">
            <a:off x="1174012" y="5045019"/>
            <a:ext cx="293611" cy="293367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9" name="Text 17"/>
          <p:cNvSpPr/>
          <p:nvPr/>
        </p:nvSpPr>
        <p:spPr>
          <a:xfrm rot="5400000">
            <a:off x="1174012" y="5045019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1547802" y="4903413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2191487" y="4931058"/>
            <a:ext cx="4469663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缓冲池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管理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 rot="5400000">
            <a:off x="6064885" y="3109793"/>
            <a:ext cx="293611" cy="293367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23" name="Text 21"/>
          <p:cNvSpPr/>
          <p:nvPr/>
        </p:nvSpPr>
        <p:spPr>
          <a:xfrm rot="5400000">
            <a:off x="6064885" y="3109793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>
            <p:custDataLst>
              <p:tags r:id="rId14"/>
            </p:custDataLst>
          </p:nvPr>
        </p:nvSpPr>
        <p:spPr>
          <a:xfrm rot="5400000">
            <a:off x="6177812" y="3222626"/>
            <a:ext cx="293611" cy="293367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25" name="Text 23"/>
          <p:cNvSpPr/>
          <p:nvPr/>
        </p:nvSpPr>
        <p:spPr>
          <a:xfrm rot="5400000">
            <a:off x="6177812" y="3222626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15"/>
            </p:custDataLst>
          </p:nvPr>
        </p:nvSpPr>
        <p:spPr>
          <a:xfrm>
            <a:off x="6551602" y="308102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>
            <p:custDataLst>
              <p:tags r:id="rId16"/>
            </p:custDataLst>
          </p:nvPr>
        </p:nvSpPr>
        <p:spPr>
          <a:xfrm>
            <a:off x="7195287" y="3108664"/>
            <a:ext cx="4469663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B+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树查找，插入，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删除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Shape 26"/>
          <p:cNvSpPr/>
          <p:nvPr>
            <p:custDataLst>
              <p:tags r:id="rId17"/>
            </p:custDataLst>
          </p:nvPr>
        </p:nvSpPr>
        <p:spPr>
          <a:xfrm rot="5400000">
            <a:off x="6064885" y="4020989"/>
            <a:ext cx="293611" cy="293367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29" name="Text 27"/>
          <p:cNvSpPr/>
          <p:nvPr/>
        </p:nvSpPr>
        <p:spPr>
          <a:xfrm rot="5400000">
            <a:off x="6064885" y="4020989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>
            <p:custDataLst>
              <p:tags r:id="rId18"/>
            </p:custDataLst>
          </p:nvPr>
        </p:nvSpPr>
        <p:spPr>
          <a:xfrm rot="5400000">
            <a:off x="6177812" y="4133823"/>
            <a:ext cx="293611" cy="293367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31" name="Text 29"/>
          <p:cNvSpPr/>
          <p:nvPr/>
        </p:nvSpPr>
        <p:spPr>
          <a:xfrm rot="5400000">
            <a:off x="6177812" y="4133823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>
            <p:custDataLst>
              <p:tags r:id="rId19"/>
            </p:custDataLst>
          </p:nvPr>
        </p:nvSpPr>
        <p:spPr>
          <a:xfrm>
            <a:off x="6551602" y="3992217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>
            <p:custDataLst>
              <p:tags r:id="rId20"/>
            </p:custDataLst>
          </p:nvPr>
        </p:nvSpPr>
        <p:spPr>
          <a:xfrm>
            <a:off x="7195287" y="4019861"/>
            <a:ext cx="4469663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B+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并发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95287" y="4930423"/>
            <a:ext cx="4469663" cy="2623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39273" y="483870"/>
            <a:ext cx="3513455" cy="1289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    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28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37" name="Text 27"/>
          <p:cNvSpPr/>
          <p:nvPr/>
        </p:nvSpPr>
        <p:spPr>
          <a:xfrm rot="5400000">
            <a:off x="6096000" y="4899829"/>
            <a:ext cx="293611" cy="29336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6985" y="2888198"/>
            <a:ext cx="9210673" cy="13449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LRU-K Replacer 算法</a:t>
            </a:r>
            <a:endParaRPr 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6-d2t7515nfo2stf9dihh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0"/>
            <a:ext cx="121989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972945" y="887730"/>
            <a:ext cx="8456295" cy="4958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53335" y="887730"/>
            <a:ext cx="7535545" cy="4958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59760" y="2076450"/>
            <a:ext cx="6603365" cy="30276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核心定义：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K </a:t>
            </a:r>
            <a:r>
              <a:rPr lang="zh-CN" altLang="en-US" sz="1600" dirty="0"/>
              <a:t>值：决策依据的</a:t>
            </a:r>
            <a:r>
              <a:rPr lang="en-US" altLang="zh-CN" sz="1600" dirty="0"/>
              <a:t> “</a:t>
            </a:r>
            <a:r>
              <a:rPr lang="zh-CN" altLang="en-US" sz="1600" dirty="0"/>
              <a:t>历史访问次数阈值</a:t>
            </a:r>
            <a:r>
              <a:rPr lang="en-US" altLang="zh-CN" sz="1600" dirty="0"/>
              <a:t>”</a:t>
            </a:r>
            <a:endParaRPr lang="en-US" altLang="zh-CN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后退</a:t>
            </a:r>
            <a:r>
              <a:rPr lang="en-US" altLang="zh-CN" sz="1600" dirty="0"/>
              <a:t> k - </a:t>
            </a:r>
            <a:r>
              <a:rPr lang="zh-CN" altLang="en-US" sz="1600" dirty="0"/>
              <a:t>距离：当前时间戳</a:t>
            </a:r>
            <a:r>
              <a:rPr lang="en-US" altLang="zh-CN" sz="1600" dirty="0"/>
              <a:t> - </a:t>
            </a:r>
            <a:r>
              <a:rPr lang="zh-CN" altLang="en-US" sz="1600" dirty="0"/>
              <a:t>第</a:t>
            </a:r>
            <a:r>
              <a:rPr lang="en-US" altLang="zh-CN" sz="1600" dirty="0"/>
              <a:t> k </a:t>
            </a:r>
            <a:r>
              <a:rPr lang="zh-CN" altLang="en-US" sz="1600" dirty="0"/>
              <a:t>次访问时间戳，</a:t>
            </a:r>
            <a:r>
              <a:rPr lang="zh-CN" altLang="en-US" sz="1600" dirty="0"/>
              <a:t>用于衡量页的</a:t>
            </a:r>
            <a:r>
              <a:rPr lang="en-US" altLang="zh-CN" sz="1600" dirty="0"/>
              <a:t> “</a:t>
            </a:r>
            <a:r>
              <a:rPr lang="zh-CN" altLang="en-US" sz="1600" dirty="0"/>
              <a:t>冷门程度</a:t>
            </a:r>
            <a:r>
              <a:rPr lang="en-US" altLang="zh-CN" sz="1600" dirty="0"/>
              <a:t>”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可淘汰帧：仅该状态的帧可被淘汰，用于锁定正在使用的页</a:t>
            </a:r>
            <a:endParaRPr lang="zh-CN" alt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92929" y="1904153"/>
            <a:ext cx="3413125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5-d2t750tnfo2stf9dihe0.png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0" y="0"/>
            <a:ext cx="12192635" cy="160591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985" y="4210685"/>
            <a:ext cx="12206605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-6985" y="4210685"/>
            <a:ext cx="12206605" cy="2667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1710" y="4058920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4710" y="629285"/>
            <a:ext cx="9715500" cy="730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核心数据结构：</a:t>
            </a:r>
            <a:endParaRPr lang="zh-CN" altLang="en-US" sz="32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1466850" y="1951355"/>
          <a:ext cx="9081135" cy="403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4815"/>
                <a:gridCol w="2964815"/>
                <a:gridCol w="3151505"/>
              </a:tblGrid>
              <a:tr h="44767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成员变量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类型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设计目的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44831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k_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size_t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存储用户指定的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K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值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9690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replacer_size_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size_t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缓冲池总帧数，限制帧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ID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合法性，避免无效帧操作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9753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history_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std::unordered_map&lt;frame_id_t, std::deque&lt;size_t&gt;&gt;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存储每个帧的访问时间戳队列，仅保留最近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K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个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44767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evictable_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std::unordered_map&lt;frame_id_t, bool&gt;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记录帧的可淘汰状态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9690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current_timestamp_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size_t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全局时间戳，标记访问顺序，避免系统时间戳的线程安全问题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44831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curr_size_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size_t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当前可淘汰帧的数量，快速返回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Size ()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44767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latch_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std::mutex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全局互斥锁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5-d2t750tnfo2stf9dihe0.png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0" y="0"/>
            <a:ext cx="12192635" cy="13182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985" y="4210685"/>
            <a:ext cx="12206605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-6985" y="4210685"/>
            <a:ext cx="12206605" cy="2667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1710" y="4058920"/>
            <a:ext cx="483235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</a:t>
            </a:r>
            <a:r>
              <a:rPr lang="zh-CN" alt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要求：</a:t>
            </a:r>
            <a:endParaRPr lang="zh-CN" altLang="en-US" sz="28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1701800" y="1805940"/>
          <a:ext cx="90678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1235"/>
                <a:gridCol w="4266565"/>
              </a:tblGrid>
              <a:tr h="72136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线程安全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所有接口用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std::scoped_lock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加锁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136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支持可淘汰状态控制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evictable_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映射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+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SetEvictable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接口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136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淘汰 “后退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k -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距离最大” 的帧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Evict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函数中计算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k -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距离，按规则选择候选帧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136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访问次数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&lt; K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时淘汰最早访问的帧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用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history_.front()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获取首次访问时间，比较后淘汰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136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仅保留最近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K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次访问历史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RecordAccess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中裁剪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deque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长度为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K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5-d2t750tnfo2stf9dihe0.png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0" y="0"/>
            <a:ext cx="12192635" cy="11595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8110" y="1154430"/>
            <a:ext cx="10737850" cy="5255895"/>
          </a:xfrm>
          <a:prstGeom prst="rect">
            <a:avLst/>
          </a:prstGeom>
          <a:solidFill>
            <a:srgbClr val="FFFFFF"/>
          </a:solidFill>
        </p:spPr>
        <p:txBody>
          <a:bodyPr/>
          <a:p>
            <a:r>
              <a:rPr lang="en-US" altLang="zh-CN"/>
              <a:t>1. </a:t>
            </a:r>
            <a:r>
              <a:rPr lang="en-US" altLang="zh-CN" sz="2000"/>
              <a:t>RecordAccess</a:t>
            </a:r>
            <a:r>
              <a:rPr lang="zh-CN" altLang="en-US" sz="2000"/>
              <a:t>（记录帧访问）</a:t>
            </a:r>
            <a:endParaRPr lang="zh-CN" altLang="en-US" sz="2000"/>
          </a:p>
          <a:p>
            <a:r>
              <a:rPr lang="en-US" altLang="zh-CN" sz="1400"/>
              <a:t>void LRUKReplacer::RecordAccess(frame_id_t frame_id) {</a:t>
            </a:r>
            <a:endParaRPr lang="en-US" altLang="zh-CN" sz="1400"/>
          </a:p>
          <a:p>
            <a:r>
              <a:rPr lang="en-US" altLang="zh-CN" sz="1400"/>
              <a:t>  std::scoped_lock&lt;std::mutex&gt; lock(latch_); // </a:t>
            </a:r>
            <a:r>
              <a:rPr lang="zh-CN" altLang="en-US" sz="1400"/>
              <a:t>线程安全</a:t>
            </a:r>
            <a:endParaRPr lang="zh-CN" altLang="en-US" sz="1400"/>
          </a:p>
          <a:p>
            <a:r>
              <a:rPr lang="en-US" altLang="zh-CN" sz="1400"/>
              <a:t>  history_[frame_id].push_back(current_timestamp_); // </a:t>
            </a:r>
            <a:r>
              <a:rPr lang="zh-CN" altLang="en-US" sz="1400"/>
              <a:t>记录当前访问时间</a:t>
            </a:r>
            <a:endParaRPr lang="zh-CN" altLang="en-US" sz="1400"/>
          </a:p>
          <a:p>
            <a:r>
              <a:rPr lang="en-US" altLang="zh-CN" sz="1400"/>
              <a:t>  if (history_[frame_id].size() &gt; k_) {</a:t>
            </a:r>
            <a:endParaRPr lang="en-US" altLang="zh-CN" sz="1400"/>
          </a:p>
          <a:p>
            <a:r>
              <a:rPr lang="en-US" altLang="zh-CN" sz="1400"/>
              <a:t>    history_[frame_id].pop_front(); // </a:t>
            </a:r>
            <a:r>
              <a:rPr lang="zh-CN" altLang="en-US" sz="1400"/>
              <a:t>仅保留最近</a:t>
            </a:r>
            <a:r>
              <a:rPr lang="en-US" altLang="zh-CN" sz="1400"/>
              <a:t> K </a:t>
            </a:r>
            <a:r>
              <a:rPr lang="zh-CN" altLang="en-US" sz="1400"/>
              <a:t>个访问</a:t>
            </a:r>
            <a:endParaRPr lang="zh-CN" altLang="en-US" sz="1400"/>
          </a:p>
          <a:p>
            <a:r>
              <a:rPr lang="en-US" altLang="zh-CN" sz="1400"/>
              <a:t>  }</a:t>
            </a:r>
            <a:endParaRPr lang="en-US" altLang="zh-CN" sz="1400"/>
          </a:p>
          <a:p>
            <a:r>
              <a:rPr lang="en-US" altLang="zh-CN" sz="1400"/>
              <a:t>  current_timestamp_++; // </a:t>
            </a:r>
            <a:r>
              <a:rPr lang="zh-CN" altLang="en-US" sz="1400"/>
              <a:t>时间戳递增，保证访问顺序唯一</a:t>
            </a:r>
            <a:endParaRPr lang="zh-CN" altLang="en-US" sz="1400"/>
          </a:p>
          <a:p>
            <a:r>
              <a:rPr lang="en-US" altLang="zh-CN" sz="1400"/>
              <a:t>}</a:t>
            </a:r>
            <a:endParaRPr lang="en-US" altLang="zh-CN" sz="1400"/>
          </a:p>
          <a:p>
            <a:r>
              <a:rPr lang="zh-CN" altLang="en-US" sz="1400"/>
              <a:t>设计理由：</a:t>
            </a:r>
            <a:endParaRPr lang="zh-CN" altLang="en-US" sz="1400"/>
          </a:p>
          <a:p>
            <a:r>
              <a:rPr lang="zh-CN" altLang="en-US" sz="1400"/>
              <a:t>加锁：保证多线程并发访问安全</a:t>
            </a:r>
            <a:endParaRPr lang="zh-CN" altLang="en-US" sz="1400"/>
          </a:p>
          <a:p>
            <a:r>
              <a:rPr lang="zh-CN" altLang="en-US" sz="1400"/>
              <a:t>裁剪队列：避免存储过多历史访问记录，节省内存</a:t>
            </a:r>
            <a:endParaRPr lang="zh-CN" altLang="en-US" sz="1400"/>
          </a:p>
          <a:p>
            <a:r>
              <a:rPr lang="zh-CN" altLang="en-US" sz="1400"/>
              <a:t>自定义时间戳：避免依赖系统时间（系统时间可能回拨）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2000"/>
              <a:t>2. Evict</a:t>
            </a:r>
            <a:r>
              <a:rPr lang="zh-CN" altLang="en-US" sz="2000"/>
              <a:t>（淘汰帧核心逻辑）</a:t>
            </a:r>
            <a:endParaRPr lang="zh-CN" altLang="en-US" sz="2000"/>
          </a:p>
          <a:p>
            <a:r>
              <a:rPr lang="en-US" altLang="zh-CN" sz="1400"/>
              <a:t>1.</a:t>
            </a:r>
            <a:r>
              <a:rPr lang="zh-CN" altLang="en-US" sz="1400"/>
              <a:t>遍历所有可淘汰帧，计算每个帧的</a:t>
            </a:r>
            <a:r>
              <a:rPr lang="en-US" altLang="zh-CN" sz="1400"/>
              <a:t> “</a:t>
            </a:r>
            <a:r>
              <a:rPr lang="zh-CN" altLang="en-US" sz="1400"/>
              <a:t>后退</a:t>
            </a:r>
            <a:r>
              <a:rPr lang="en-US" altLang="zh-CN" sz="1400"/>
              <a:t> k - </a:t>
            </a:r>
            <a:r>
              <a:rPr lang="zh-CN" altLang="en-US" sz="1400"/>
              <a:t>距离</a:t>
            </a:r>
            <a:r>
              <a:rPr lang="en-US" altLang="zh-CN" sz="1400"/>
              <a:t>”</a:t>
            </a:r>
            <a:endParaRPr lang="en-US" altLang="zh-CN" sz="1400"/>
          </a:p>
          <a:p>
            <a:r>
              <a:rPr lang="en-US" altLang="zh-CN" sz="1400"/>
              <a:t>2.</a:t>
            </a:r>
            <a:r>
              <a:rPr lang="zh-CN" altLang="en-US" sz="1400"/>
              <a:t>区分</a:t>
            </a:r>
            <a:r>
              <a:rPr lang="en-US" altLang="zh-CN" sz="1400"/>
              <a:t> “</a:t>
            </a:r>
            <a:r>
              <a:rPr lang="zh-CN" altLang="en-US" sz="1400"/>
              <a:t>访问次数</a:t>
            </a:r>
            <a:r>
              <a:rPr lang="en-US" altLang="zh-CN" sz="1400"/>
              <a:t>≥K” </a:t>
            </a:r>
            <a:r>
              <a:rPr lang="zh-CN" altLang="en-US" sz="1400"/>
              <a:t>和</a:t>
            </a:r>
            <a:r>
              <a:rPr lang="en-US" altLang="zh-CN" sz="1400"/>
              <a:t> “</a:t>
            </a:r>
            <a:r>
              <a:rPr lang="zh-CN" altLang="en-US" sz="1400"/>
              <a:t>访问次数</a:t>
            </a:r>
            <a:r>
              <a:rPr lang="en-US" altLang="zh-CN" sz="1400"/>
              <a:t> &lt; K” </a:t>
            </a:r>
            <a:r>
              <a:rPr lang="zh-CN" altLang="en-US" sz="1400"/>
              <a:t>两类帧，分别应用淘汰规则</a:t>
            </a:r>
            <a:endParaRPr lang="zh-CN" altLang="en-US" sz="1400"/>
          </a:p>
          <a:p>
            <a:r>
              <a:rPr lang="en-US" altLang="zh-CN" sz="1400"/>
              <a:t>3.</a:t>
            </a:r>
            <a:r>
              <a:rPr lang="zh-CN" altLang="en-US" sz="1400"/>
              <a:t>淘汰后清理该帧的访问历史和可淘汰状态，更新</a:t>
            </a:r>
            <a:r>
              <a:rPr lang="en-US" altLang="zh-CN" sz="1400"/>
              <a:t> curr_size_</a:t>
            </a:r>
            <a:endParaRPr lang="en-US" altLang="zh-CN" sz="1400"/>
          </a:p>
          <a:p>
            <a:r>
              <a:rPr lang="zh-CN" altLang="en-US" sz="1400"/>
              <a:t>关键细节：用</a:t>
            </a:r>
            <a:r>
              <a:rPr lang="en-US" altLang="zh-CN" sz="1400"/>
              <a:t> std::numeric_limits&lt;size_t&gt;::max() </a:t>
            </a:r>
            <a:r>
              <a:rPr lang="zh-CN" altLang="en-US" sz="1400"/>
              <a:t>表示</a:t>
            </a:r>
            <a:r>
              <a:rPr lang="en-US" altLang="zh-CN" sz="1400"/>
              <a:t> “+inf”</a:t>
            </a:r>
            <a:r>
              <a:rPr lang="zh-CN" altLang="en-US" sz="1400"/>
              <a:t>（访问次数</a:t>
            </a:r>
            <a:r>
              <a:rPr lang="en-US" altLang="zh-CN" sz="1400"/>
              <a:t> &lt; K </a:t>
            </a:r>
            <a:r>
              <a:rPr lang="zh-CN" altLang="en-US" sz="1400"/>
              <a:t>时的后退</a:t>
            </a:r>
            <a:r>
              <a:rPr lang="en-US" altLang="zh-CN" sz="1400"/>
              <a:t> k - </a:t>
            </a:r>
            <a:r>
              <a:rPr lang="zh-CN" altLang="en-US" sz="1400"/>
              <a:t>距离）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/>
              <a:t>3.SetEvictable</a:t>
            </a:r>
            <a:r>
              <a:rPr lang="zh-CN" altLang="en-US" sz="1400"/>
              <a:t>：切换帧的可淘汰状态，同步更新</a:t>
            </a:r>
            <a:r>
              <a:rPr lang="en-US" altLang="zh-CN" sz="1400"/>
              <a:t> curr_size_</a:t>
            </a:r>
            <a:endParaRPr lang="en-US" altLang="zh-CN" sz="1400"/>
          </a:p>
          <a:p>
            <a:r>
              <a:rPr lang="en-US" altLang="zh-CN" sz="1400"/>
              <a:t>4.Remove</a:t>
            </a:r>
            <a:r>
              <a:rPr lang="zh-CN" altLang="en-US" sz="1400"/>
              <a:t>：强制移除帧，仅可淘汰帧，用于缓冲池删除页时清理状态</a:t>
            </a:r>
            <a:endParaRPr lang="zh-CN" altLang="en-US" sz="1400"/>
          </a:p>
          <a:p>
            <a:r>
              <a:rPr lang="en-US" altLang="zh-CN" sz="1400"/>
              <a:t>5.Size</a:t>
            </a:r>
            <a:r>
              <a:rPr lang="zh-CN" altLang="en-US" sz="1400"/>
              <a:t>：返回当前可淘汰帧数量（</a:t>
            </a:r>
            <a:r>
              <a:rPr lang="en-US" altLang="zh-CN" sz="1400"/>
              <a:t>O (1) </a:t>
            </a:r>
            <a:r>
              <a:rPr lang="zh-CN" altLang="en-US" sz="1400"/>
              <a:t>复杂度，直接返回</a:t>
            </a:r>
            <a:r>
              <a:rPr lang="en-US" altLang="zh-CN" sz="1400"/>
              <a:t> curr_size_</a:t>
            </a:r>
            <a:r>
              <a:rPr lang="zh-CN" altLang="en-US" sz="1400"/>
              <a:t>）</a:t>
            </a:r>
            <a:endParaRPr lang="zh-CN" altLang="en-US" sz="1400"/>
          </a:p>
        </p:txBody>
      </p:sp>
      <p:sp>
        <p:nvSpPr>
          <p:cNvPr id="4" name="Text 1"/>
          <p:cNvSpPr/>
          <p:nvPr/>
        </p:nvSpPr>
        <p:spPr>
          <a:xfrm>
            <a:off x="-6985" y="4210685"/>
            <a:ext cx="12206605" cy="2667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1710" y="4058920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核心代码解析：</a:t>
            </a:r>
            <a:endParaRPr lang="zh-CN" alt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737235" y="26962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6985" y="2953970"/>
            <a:ext cx="9090555" cy="23114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可扩展哈希</a:t>
            </a:r>
            <a:endParaRPr lang="zh-CN" alt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3645" y="2971800"/>
            <a:ext cx="4838700" cy="16910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可扩展哈希表是数据库缓冲池中的页表映射组件，核心作用是存储</a:t>
            </a:r>
            <a:r>
              <a:rPr lang="en-US" altLang="zh-CN" sz="1600" dirty="0"/>
              <a:t> page_id </a:t>
            </a:r>
            <a:r>
              <a:rPr lang="zh-CN" altLang="en-US" sz="1600" dirty="0"/>
              <a:t>与</a:t>
            </a:r>
            <a:r>
              <a:rPr lang="en-US" altLang="zh-CN" sz="1600" dirty="0"/>
              <a:t> frame_id </a:t>
            </a:r>
            <a:r>
              <a:rPr lang="zh-CN" altLang="en-US" sz="1600" dirty="0"/>
              <a:t>的映射关系，支持动态扩容且无需全量重哈希。其设计本质是</a:t>
            </a:r>
            <a:r>
              <a:rPr lang="en-US" altLang="zh-CN" sz="1600" dirty="0"/>
              <a:t> “</a:t>
            </a:r>
            <a:r>
              <a:rPr lang="zh-CN" altLang="en-US" sz="1600" dirty="0"/>
              <a:t>目录路由</a:t>
            </a:r>
            <a:r>
              <a:rPr lang="en-US" altLang="zh-CN" sz="1600" dirty="0"/>
              <a:t> + </a:t>
            </a:r>
            <a:r>
              <a:rPr lang="zh-CN" altLang="en-US" sz="1600" dirty="0"/>
              <a:t>桶分裂</a:t>
            </a:r>
            <a:r>
              <a:rPr lang="en-US" altLang="zh-CN" sz="1600" dirty="0"/>
              <a:t>”</a:t>
            </a:r>
            <a:r>
              <a:rPr lang="zh-CN" altLang="en-US" sz="1600" dirty="0"/>
              <a:t>，解决传统哈希表扩容代价高、空间利用率低的问题。</a:t>
            </a:r>
            <a:endParaRPr lang="zh-CN" alt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23645" y="2793365"/>
            <a:ext cx="483806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08380" y="1580515"/>
            <a:ext cx="10408920" cy="40055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8380" y="1580515"/>
            <a:ext cx="10408920" cy="406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5-13:17:52-d2t7505nfo2stf9diha0.png"/>
          <p:cNvPicPr>
            <a:picLocks noChangeAspect="1"/>
          </p:cNvPicPr>
          <p:nvPr/>
        </p:nvPicPr>
        <p:blipFill>
          <a:blip r:embed="rId1"/>
          <a:srcRect l="40" r="40"/>
          <a:stretch>
            <a:fillRect/>
          </a:stretch>
        </p:blipFill>
        <p:spPr>
          <a:xfrm>
            <a:off x="6459220" y="1761490"/>
            <a:ext cx="4775200" cy="371538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3" name="Text 10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5" name="Text 12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可扩展哈希核心原理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2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81710" y="1080770"/>
            <a:ext cx="9714230" cy="701040"/>
          </a:xfrm>
          <a:prstGeom prst="roundRect">
            <a:avLst>
              <a:gd name="adj" fmla="val 0"/>
            </a:avLst>
          </a:prstGeom>
          <a:solidFill>
            <a:srgbClr val="000000"/>
          </a:solidFill>
        </p:spPr>
      </p:sp>
      <p:sp>
        <p:nvSpPr>
          <p:cNvPr id="8" name="Text 6"/>
          <p:cNvSpPr/>
          <p:nvPr/>
        </p:nvSpPr>
        <p:spPr>
          <a:xfrm>
            <a:off x="1155700" y="1489075"/>
            <a:ext cx="4816475" cy="701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5700" y="2449195"/>
            <a:ext cx="4816475" cy="3291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4" name="Text 11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6" name="Text 13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概念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1"/>
            </p:custDataLst>
          </p:nvPr>
        </p:nvGraphicFramePr>
        <p:xfrm>
          <a:off x="1057910" y="2175510"/>
          <a:ext cx="9659620" cy="346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9860"/>
                <a:gridCol w="4429760"/>
              </a:tblGrid>
              <a:tr h="54673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概念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作用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898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目录（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dir_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数组结构，存储指向桶的指针，大小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= 2^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全局深度，通过哈希值低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N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位（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N =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全局深度）定位桶。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834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桶（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Bucket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存储键值对的最小单元，用链表实现，有最大容量限制，满则触发分裂。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898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全局深度（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global_depth_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决定目录大小，哈希值取低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N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位作为目录索引，扩容时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+ 1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，目录大小翻倍。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72898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局部深度（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depth_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每个桶的属性，记录桶的分裂次数，局部深度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≤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全局深度，分裂时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+ 1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" y="0"/>
            <a:ext cx="12191365" cy="106489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2"/>
          <p:cNvSpPr/>
          <p:nvPr/>
        </p:nvSpPr>
        <p:spPr>
          <a:xfrm>
            <a:off x="0" y="45035"/>
            <a:ext cx="9090555" cy="23114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核心代码</a:t>
            </a:r>
            <a:r>
              <a:rPr lang="zh-CN" alt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解析：</a:t>
            </a:r>
            <a:endParaRPr lang="zh-CN" alt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" y="1019810"/>
            <a:ext cx="12211050" cy="5619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 </a:t>
            </a:r>
            <a:r>
              <a:rPr lang="zh-CN" altLang="en-US" sz="2400"/>
              <a:t>目录索引计算（</a:t>
            </a:r>
            <a:r>
              <a:rPr lang="en-US" altLang="zh-CN" sz="2400"/>
              <a:t>IndexOf</a:t>
            </a:r>
            <a:r>
              <a:rPr lang="zh-CN" altLang="en-US" sz="2400"/>
              <a:t>）</a:t>
            </a:r>
            <a:endParaRPr lang="zh-CN" altLang="en-US"/>
          </a:p>
          <a:p>
            <a:r>
              <a:rPr lang="en-US" altLang="zh-CN" sz="1600"/>
              <a:t>size_t IndexOf(const K &amp;key) {</a:t>
            </a:r>
            <a:endParaRPr lang="en-US" altLang="zh-CN" sz="1600"/>
          </a:p>
          <a:p>
            <a:r>
              <a:rPr lang="en-US" altLang="zh-CN" sz="1600"/>
              <a:t>  int mask = (1 &lt;&lt; global_depth_) - 1; // </a:t>
            </a:r>
            <a:r>
              <a:rPr lang="zh-CN" altLang="en-US" sz="1600"/>
              <a:t>低</a:t>
            </a:r>
            <a:r>
              <a:rPr lang="en-US" altLang="zh-CN" sz="1600"/>
              <a:t>global_depth_</a:t>
            </a:r>
            <a:r>
              <a:rPr lang="zh-CN" altLang="en-US" sz="1600"/>
              <a:t>位全</a:t>
            </a:r>
            <a:r>
              <a:rPr lang="en-US" altLang="zh-CN" sz="1600"/>
              <a:t>1</a:t>
            </a:r>
            <a:endParaRPr lang="en-US" altLang="zh-CN" sz="1600"/>
          </a:p>
          <a:p>
            <a:r>
              <a:rPr lang="en-US" altLang="zh-CN" sz="1600"/>
              <a:t>  return std::hash&lt;K&gt;()(key) &amp; mask;</a:t>
            </a:r>
            <a:endParaRPr lang="en-US" altLang="zh-CN" sz="1600"/>
          </a:p>
          <a:p>
            <a:r>
              <a:rPr lang="en-US" altLang="zh-CN" sz="1600"/>
              <a:t>}</a:t>
            </a:r>
            <a:endParaRPr lang="en-US" altLang="zh-CN" sz="1600"/>
          </a:p>
          <a:p>
            <a:r>
              <a:rPr lang="zh-CN" altLang="en-US" sz="1600"/>
              <a:t>设计理由：</a:t>
            </a:r>
            <a:endParaRPr lang="zh-CN" altLang="en-US" sz="1600"/>
          </a:p>
          <a:p>
            <a:r>
              <a:rPr lang="zh-CN" altLang="en-US" sz="1600"/>
              <a:t>掩码计算：</a:t>
            </a:r>
            <a:r>
              <a:rPr lang="en-US" altLang="zh-CN" sz="1600"/>
              <a:t>(1 &lt;&lt; global_depth_) - 1 </a:t>
            </a:r>
            <a:r>
              <a:rPr lang="zh-CN" altLang="en-US" sz="1600"/>
              <a:t>确保只取哈希值的低</a:t>
            </a:r>
            <a:r>
              <a:rPr lang="en-US" altLang="zh-CN" sz="1600"/>
              <a:t> N </a:t>
            </a:r>
            <a:r>
              <a:rPr lang="zh-CN" altLang="en-US" sz="1600"/>
              <a:t>位（</a:t>
            </a:r>
            <a:r>
              <a:rPr lang="en-US" altLang="zh-CN" sz="1600"/>
              <a:t>N = </a:t>
            </a:r>
            <a:r>
              <a:rPr lang="zh-CN" altLang="en-US" sz="1600"/>
              <a:t>全局深度）；</a:t>
            </a:r>
            <a:endParaRPr lang="zh-CN" altLang="en-US" sz="1600"/>
          </a:p>
          <a:p>
            <a:r>
              <a:rPr lang="zh-CN" altLang="en-US" sz="1600"/>
              <a:t>哈希函数：使用</a:t>
            </a:r>
            <a:r>
              <a:rPr lang="en-US" altLang="zh-CN" sz="1600"/>
              <a:t> C++ </a:t>
            </a:r>
            <a:r>
              <a:rPr lang="zh-CN" altLang="en-US" sz="1600"/>
              <a:t>标准哈希函数，兼顾效率与通用性</a:t>
            </a:r>
            <a:endParaRPr lang="zh-CN" altLang="en-US" sz="1600"/>
          </a:p>
          <a:p>
            <a:r>
              <a:rPr lang="en-US" altLang="zh-CN" sz="2400"/>
              <a:t>2.Insert</a:t>
            </a:r>
            <a:r>
              <a:rPr lang="zh-CN" altLang="en-US" sz="2400"/>
              <a:t>（插入</a:t>
            </a:r>
            <a:r>
              <a:rPr lang="en-US" altLang="zh-CN" sz="2400"/>
              <a:t> + </a:t>
            </a:r>
            <a:r>
              <a:rPr lang="zh-CN" altLang="en-US" sz="2400"/>
              <a:t>分裂）</a:t>
            </a:r>
            <a:endParaRPr lang="zh-CN" altLang="en-US" sz="2400"/>
          </a:p>
          <a:p>
            <a:r>
              <a:rPr lang="en-US" altLang="zh-CN" sz="900">
                <a:sym typeface="+mn-ea"/>
              </a:rPr>
              <a:t> </a:t>
            </a:r>
            <a:r>
              <a:rPr lang="en-US" altLang="zh-CN" sz="1200">
                <a:sym typeface="+mn-ea"/>
              </a:rPr>
              <a:t>void Insert(const K &amp;key, const V &amp;value)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std::scoped_lock&lt;std::mutex&gt; lock(latch_); // </a:t>
            </a:r>
            <a:r>
              <a:rPr lang="zh-CN" altLang="en-US" sz="1200">
                <a:sym typeface="+mn-ea"/>
              </a:rPr>
              <a:t>线程安全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while (true)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size_t dir_index = IndexOf(key);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auto bucket = dir_[dir_index];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if (bucket-&gt;Insert(key, value))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return; // </a:t>
            </a:r>
            <a:r>
              <a:rPr lang="zh-CN" altLang="en-US" sz="1200">
                <a:sym typeface="+mn-ea"/>
              </a:rPr>
              <a:t>插入成功（键存在更新或桶有空间）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}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// </a:t>
            </a:r>
            <a:r>
              <a:rPr lang="zh-CN" altLang="en-US" sz="1200">
                <a:sym typeface="+mn-ea"/>
              </a:rPr>
              <a:t>桶满，触发分裂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if (bucket-&gt;GetDepth() == global_depth_)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global_depth_++;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dir_.resize(dir_.size() * 2); // </a:t>
            </a:r>
            <a:r>
              <a:rPr lang="zh-CN" altLang="en-US" sz="1200">
                <a:sym typeface="+mn-ea"/>
              </a:rPr>
              <a:t>目录翻倍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  for (size_t i = 0; i &lt; dir_.size()/2; i++) {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    dir_[i + dir_.size()/2] = dir_[i]; // </a:t>
            </a:r>
            <a:r>
              <a:rPr lang="zh-CN" altLang="en-US" sz="1200">
                <a:sym typeface="+mn-ea"/>
              </a:rPr>
              <a:t>复制原目录指针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    }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}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    RedistributeBucket(bucket); // </a:t>
            </a:r>
            <a:r>
              <a:rPr lang="zh-CN" altLang="en-US" sz="1200">
                <a:sym typeface="+mn-ea"/>
              </a:rPr>
              <a:t>分裂桶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  }</a:t>
            </a:r>
            <a:endParaRPr lang="en-US" altLang="zh-CN" sz="1200"/>
          </a:p>
          <a:p>
            <a:r>
              <a:rPr lang="en-US" altLang="zh-CN" sz="1200">
                <a:sym typeface="+mn-ea"/>
              </a:rPr>
              <a:t>}</a:t>
            </a:r>
            <a:endParaRPr lang="en-US" altLang="zh-CN" sz="1200"/>
          </a:p>
          <a:p>
            <a:endParaRPr lang="en-US" altLang="zh-CN" sz="120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7235" y="2696210"/>
            <a:ext cx="4088765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5" y="67310"/>
            <a:ext cx="11991975" cy="63538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endParaRPr lang="zh-CN" alt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1645" y="321945"/>
            <a:ext cx="8406130" cy="5839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设计理由：</a:t>
            </a:r>
            <a:endParaRPr lang="zh-CN" altLang="en-US"/>
          </a:p>
          <a:p>
            <a:r>
              <a:rPr lang="zh-CN" altLang="en-US"/>
              <a:t>循环重试：分裂后可能仍需再次分裂（极端情况所有键映射到同一桶）；</a:t>
            </a:r>
            <a:endParaRPr lang="zh-CN" altLang="en-US"/>
          </a:p>
          <a:p>
            <a:r>
              <a:rPr lang="zh-CN" altLang="en-US"/>
              <a:t>目录扩展时机：仅当</a:t>
            </a:r>
            <a:r>
              <a:rPr lang="en-US" altLang="zh-CN"/>
              <a:t> “</a:t>
            </a:r>
            <a:r>
              <a:rPr lang="zh-CN" altLang="en-US"/>
              <a:t>桶局部深度</a:t>
            </a:r>
            <a:r>
              <a:rPr lang="en-US" altLang="zh-CN"/>
              <a:t> = </a:t>
            </a:r>
            <a:r>
              <a:rPr lang="zh-CN" altLang="en-US"/>
              <a:t>全局深度</a:t>
            </a:r>
            <a:r>
              <a:rPr lang="en-US" altLang="zh-CN"/>
              <a:t>” </a:t>
            </a:r>
            <a:r>
              <a:rPr lang="zh-CN" altLang="en-US"/>
              <a:t>时扩展目录；</a:t>
            </a:r>
            <a:endParaRPr lang="zh-CN" altLang="en-US"/>
          </a:p>
          <a:p>
            <a:r>
              <a:rPr lang="zh-CN" altLang="en-US"/>
              <a:t>线程安全：全局互斥锁</a:t>
            </a:r>
            <a:r>
              <a:rPr lang="en-US" altLang="zh-CN"/>
              <a:t> latch_ </a:t>
            </a:r>
            <a:r>
              <a:rPr lang="zh-CN" altLang="en-US"/>
              <a:t>保护所有操作。</a:t>
            </a:r>
            <a:endParaRPr lang="zh-CN" altLang="en-US"/>
          </a:p>
          <a:p>
            <a:r>
              <a:rPr lang="en-US" altLang="zh-CN" sz="2400"/>
              <a:t>3.</a:t>
            </a:r>
            <a:r>
              <a:rPr lang="zh-CN" altLang="en-US" sz="2400"/>
              <a:t>桶分裂（</a:t>
            </a:r>
            <a:r>
              <a:rPr lang="en-US" altLang="zh-CN" sz="2400"/>
              <a:t>RedistributeBucket</a:t>
            </a:r>
            <a:r>
              <a:rPr lang="zh-CN" altLang="en-US" sz="2400"/>
              <a:t>）</a:t>
            </a:r>
            <a:endParaRPr lang="zh-CN" altLang="en-US" sz="2400"/>
          </a:p>
          <a:p>
            <a:r>
              <a:rPr lang="zh-CN" altLang="en-US" sz="1600"/>
              <a:t>代码：略</a:t>
            </a:r>
            <a:endParaRPr lang="zh-CN" altLang="en-US" sz="1600"/>
          </a:p>
          <a:p>
            <a:r>
              <a:rPr lang="zh-CN" altLang="en-US" sz="2000"/>
              <a:t>代码原理：</a:t>
            </a:r>
            <a:endParaRPr lang="zh-CN" altLang="en-US" sz="2000"/>
          </a:p>
          <a:p>
            <a:r>
              <a:rPr lang="zh-CN" altLang="en-US" sz="1600"/>
              <a:t>当桶溢出时，增加其局部深度，创建新桶，按哈希值的特定位重新分配旧桶中的键到两个桶，并更新目录指针。</a:t>
            </a:r>
            <a:endParaRPr lang="zh-CN" altLang="en-US" sz="1600"/>
          </a:p>
          <a:p>
            <a:r>
              <a:rPr lang="zh-CN" altLang="en-US" sz="2000"/>
              <a:t>设计理由：</a:t>
            </a:r>
            <a:endParaRPr lang="zh-CN" altLang="en-US" sz="2000"/>
          </a:p>
          <a:p>
            <a:r>
              <a:rPr lang="zh-CN" altLang="en-US" sz="1600"/>
              <a:t>分裂位掩码：</a:t>
            </a:r>
            <a:r>
              <a:rPr lang="en-US" altLang="zh-CN" sz="1600"/>
              <a:t>1 &lt;&lt; (</a:t>
            </a:r>
            <a:r>
              <a:rPr lang="zh-CN" altLang="en-US" sz="1600"/>
              <a:t>局部深度</a:t>
            </a:r>
            <a:r>
              <a:rPr lang="en-US" altLang="zh-CN" sz="1600"/>
              <a:t>-1) </a:t>
            </a:r>
            <a:r>
              <a:rPr lang="zh-CN" altLang="en-US" sz="1600"/>
              <a:t>定位</a:t>
            </a:r>
            <a:r>
              <a:rPr lang="en-US" altLang="zh-CN" sz="1600"/>
              <a:t> “</a:t>
            </a:r>
            <a:r>
              <a:rPr lang="zh-CN" altLang="en-US" sz="1600"/>
              <a:t>分裂位</a:t>
            </a:r>
            <a:r>
              <a:rPr lang="en-US" altLang="zh-CN" sz="1600"/>
              <a:t>”</a:t>
            </a:r>
            <a:r>
              <a:rPr lang="zh-CN" altLang="en-US" sz="1600"/>
              <a:t>（哈希值的第</a:t>
            </a:r>
            <a:r>
              <a:rPr lang="en-US" altLang="zh-CN" sz="1600"/>
              <a:t> N </a:t>
            </a:r>
            <a:r>
              <a:rPr lang="zh-CN" altLang="en-US" sz="1600"/>
              <a:t>位），按该位</a:t>
            </a:r>
            <a:r>
              <a:rPr lang="en-US" altLang="zh-CN" sz="1600"/>
              <a:t> 0/1 </a:t>
            </a:r>
            <a:r>
              <a:rPr lang="zh-CN" altLang="en-US" sz="1600"/>
              <a:t>拆分键值对；</a:t>
            </a:r>
            <a:endParaRPr lang="zh-CN" altLang="en-US" sz="1600"/>
          </a:p>
          <a:p>
            <a:r>
              <a:rPr lang="zh-CN" altLang="en-US" sz="1600"/>
              <a:t>目录指针更新：遍历所有目录项，将原指向旧桶的条目按分裂位拆分，指向旧桶或新桶；</a:t>
            </a:r>
            <a:endParaRPr lang="zh-CN" altLang="en-US" sz="1600"/>
          </a:p>
          <a:p>
            <a:r>
              <a:rPr lang="zh-CN" altLang="en-US" sz="1600"/>
              <a:t>新桶局部深度：与旧桶相同（分裂后局部深度</a:t>
            </a:r>
            <a:r>
              <a:rPr lang="en-US" altLang="zh-CN" sz="1600"/>
              <a:t> = </a:t>
            </a:r>
            <a:r>
              <a:rPr lang="zh-CN" altLang="en-US" sz="1600"/>
              <a:t>原深度</a:t>
            </a:r>
            <a:r>
              <a:rPr lang="en-US" altLang="zh-CN" sz="1600"/>
              <a:t> + 1</a:t>
            </a:r>
            <a:r>
              <a:rPr lang="zh-CN" altLang="en-US" sz="1600"/>
              <a:t>），保证后续分裂逻辑一致。</a:t>
            </a:r>
            <a:endParaRPr lang="zh-CN" altLang="en-US" sz="1600"/>
          </a:p>
          <a:p>
            <a:r>
              <a:rPr lang="en-US" altLang="zh-CN" sz="1600"/>
              <a:t>4.</a:t>
            </a:r>
            <a:r>
              <a:rPr lang="zh-CN" altLang="en-US" sz="1600"/>
              <a:t>桶</a:t>
            </a:r>
            <a:r>
              <a:rPr lang="zh-CN" altLang="en-US" sz="1600"/>
              <a:t>实现</a:t>
            </a:r>
            <a:endParaRPr lang="zh-CN" altLang="en-US" sz="1600"/>
          </a:p>
          <a:p>
            <a:r>
              <a:rPr lang="zh-CN" altLang="en-US" sz="1600"/>
              <a:t>代码：</a:t>
            </a:r>
            <a:r>
              <a:rPr lang="zh-CN" altLang="en-US" sz="1600"/>
              <a:t>略</a:t>
            </a:r>
            <a:endParaRPr lang="zh-CN" altLang="en-US" sz="1600"/>
          </a:p>
          <a:p>
            <a:r>
              <a:rPr lang="zh-CN" altLang="en-US" sz="2000"/>
              <a:t>代码原理</a:t>
            </a:r>
            <a:r>
              <a:rPr lang="zh-CN" altLang="en-US" sz="1600"/>
              <a:t>：该桶类使用链表存储键值对，插入时检查是否已存在（存在则更新）或已满（满则失败），否则添加新条目。</a:t>
            </a:r>
            <a:endParaRPr lang="zh-CN" altLang="en-US" sz="1600"/>
          </a:p>
          <a:p>
            <a:r>
              <a:rPr lang="zh-CN" altLang="en-US" sz="2000"/>
              <a:t>设计理由：</a:t>
            </a:r>
            <a:endParaRPr lang="zh-CN" altLang="en-US" sz="1600"/>
          </a:p>
          <a:p>
            <a:r>
              <a:rPr lang="zh-CN" altLang="en-US" sz="1600"/>
              <a:t>存储结构：用链表</a:t>
            </a:r>
            <a:r>
              <a:rPr lang="en-US" altLang="zh-CN" sz="1600"/>
              <a:t> list_ </a:t>
            </a:r>
            <a:r>
              <a:rPr lang="zh-CN" altLang="en-US" sz="1600"/>
              <a:t>存储键值对，支持动态增删；</a:t>
            </a:r>
            <a:endParaRPr lang="zh-CN" altLang="en-US" sz="1600"/>
          </a:p>
          <a:p>
            <a:r>
              <a:rPr lang="zh-CN" altLang="en-US" sz="1600"/>
              <a:t>插入逻辑：先检查键是否存在，存在则更新，再检查桶是否满；</a:t>
            </a:r>
            <a:endParaRPr lang="zh-CN" altLang="en-US" sz="1600"/>
          </a:p>
          <a:p>
            <a:r>
              <a:rPr lang="zh-CN" altLang="en-US" sz="1600"/>
              <a:t>局部深度存储：每个桶维护</a:t>
            </a:r>
            <a:r>
              <a:rPr lang="en-US" altLang="zh-CN" sz="1600"/>
              <a:t> depth_</a:t>
            </a:r>
            <a:r>
              <a:rPr lang="zh-CN" altLang="en-US" sz="1600"/>
              <a:t>，用于判断是否需要扩展目录。</a:t>
            </a:r>
            <a:endParaRPr lang="zh-CN" altLang="en-US" sz="160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8100"/>
            <a:ext cx="12191365" cy="103441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2"/>
          <p:cNvSpPr/>
          <p:nvPr/>
        </p:nvSpPr>
        <p:spPr>
          <a:xfrm>
            <a:off x="2546985" y="2953970"/>
            <a:ext cx="9090555" cy="23114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设计要求</a:t>
            </a:r>
            <a:endParaRPr lang="zh-CN" alt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635" y="83185"/>
            <a:ext cx="42938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bg1"/>
                </a:solidFill>
              </a:rPr>
              <a:t>设计要求：</a:t>
            </a:r>
            <a:endParaRPr lang="en-US" altLang="zh-CN" sz="44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9245" y="1186815"/>
            <a:ext cx="10167620" cy="4105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严格遵循</a:t>
            </a:r>
            <a:r>
              <a:rPr lang="en-US" altLang="zh-CN"/>
              <a:t> “</a:t>
            </a:r>
            <a:r>
              <a:rPr lang="zh-CN" altLang="en-US"/>
              <a:t>不使用内置哈希表</a:t>
            </a:r>
            <a:r>
              <a:rPr lang="en-US" altLang="zh-CN"/>
              <a:t>”</a:t>
            </a:r>
            <a:r>
              <a:rPr lang="zh-CN" altLang="en-US"/>
              <a:t>：代码用</a:t>
            </a:r>
            <a:r>
              <a:rPr lang="en-US" altLang="zh-CN"/>
              <a:t> vector</a:t>
            </a:r>
            <a:r>
              <a:rPr lang="zh-CN" altLang="en-US"/>
              <a:t>（目录）</a:t>
            </a:r>
            <a:r>
              <a:rPr lang="en-US" altLang="zh-CN"/>
              <a:t>+ list</a:t>
            </a:r>
            <a:r>
              <a:rPr lang="zh-CN" altLang="en-US"/>
              <a:t>（桶）</a:t>
            </a:r>
            <a:r>
              <a:rPr lang="en-US" altLang="zh-CN"/>
              <a:t>+ </a:t>
            </a:r>
            <a:r>
              <a:rPr lang="zh-CN" altLang="en-US"/>
              <a:t>自定义哈希逻辑实现；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无需缩容：代码未实现缩容逻辑，仅在分裂时增加桶数量；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适配缓冲池场景：键值对为</a:t>
            </a:r>
            <a:r>
              <a:rPr lang="en-US" altLang="zh-CN"/>
              <a:t> page_id/frame_id </a:t>
            </a:r>
            <a:r>
              <a:rPr lang="zh-CN" altLang="en-US"/>
              <a:t>映射，模板实例化支持</a:t>
            </a:r>
            <a:r>
              <a:rPr lang="en-US" altLang="zh-CN"/>
              <a:t> page_id_t/Page* </a:t>
            </a:r>
            <a:r>
              <a:rPr lang="zh-CN" altLang="en-US"/>
              <a:t>等类型；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分裂逻辑前置：代码在插入失败（桶满）后立即分裂，再重试插入。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8618" y="2994970"/>
            <a:ext cx="6594765" cy="14370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缓冲池管理</a:t>
            </a:r>
            <a:endParaRPr lang="zh-CN" alt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550035"/>
            <a:ext cx="12207240" cy="3992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5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7845" y="2000885"/>
            <a:ext cx="403987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16405"/>
            <a:ext cx="4038600" cy="32905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缓冲池管理器是</a:t>
            </a:r>
            <a:r>
              <a:rPr lang="en-US" altLang="zh-CN" sz="1600" dirty="0"/>
              <a:t> BusTub </a:t>
            </a:r>
            <a:r>
              <a:rPr lang="zh-CN" altLang="en-US" sz="1600" dirty="0"/>
              <a:t>数据库的内存存储核心组件，本质是</a:t>
            </a:r>
            <a:r>
              <a:rPr lang="en-US" altLang="zh-CN" sz="1600" dirty="0"/>
              <a:t> “</a:t>
            </a:r>
            <a:r>
              <a:rPr lang="zh-CN" altLang="en-US" sz="1600" dirty="0"/>
              <a:t>磁盘页的内存缓存中间层</a:t>
            </a:r>
            <a:r>
              <a:rPr lang="en-US" altLang="zh-CN" sz="1600" dirty="0"/>
              <a:t>”</a:t>
            </a:r>
            <a:r>
              <a:rPr lang="zh-CN" altLang="en-US" sz="1600" dirty="0"/>
              <a:t>。它对外提供统一的页面操作接口（新建、获取、解锁、刷新、删除），对内协调</a:t>
            </a:r>
            <a:r>
              <a:rPr lang="en-US" altLang="zh-CN" sz="1600" dirty="0"/>
              <a:t> “</a:t>
            </a:r>
            <a:r>
              <a:rPr lang="zh-CN" altLang="en-US" sz="1600" dirty="0"/>
              <a:t>可扩展哈希表（页表映射）</a:t>
            </a:r>
            <a:r>
              <a:rPr lang="en-US" altLang="zh-CN" sz="1600" dirty="0"/>
              <a:t>”“LRU-K </a:t>
            </a:r>
            <a:r>
              <a:rPr lang="zh-CN" altLang="en-US" sz="1600" dirty="0"/>
              <a:t>替换器（帧淘汰）</a:t>
            </a:r>
            <a:r>
              <a:rPr lang="en-US" altLang="zh-CN" sz="1600" dirty="0"/>
              <a:t>”“</a:t>
            </a:r>
            <a:r>
              <a:rPr lang="zh-CN" altLang="en-US" sz="1600" dirty="0"/>
              <a:t>空闲帧列表</a:t>
            </a:r>
            <a:r>
              <a:rPr lang="en-US" altLang="zh-CN" sz="1600" dirty="0"/>
              <a:t>”</a:t>
            </a:r>
            <a:r>
              <a:rPr lang="zh-CN" altLang="en-US" sz="1600" dirty="0"/>
              <a:t>，屏蔽磁盘与内存的交互细节，让上层模块无需关心页面的实际存储位置（内存</a:t>
            </a:r>
            <a:r>
              <a:rPr lang="en-US" altLang="zh-CN" sz="1600" dirty="0"/>
              <a:t> / </a:t>
            </a:r>
            <a:r>
              <a:rPr lang="zh-CN" altLang="en-US" sz="1600" dirty="0"/>
              <a:t>磁盘），核心目标是提升数据库</a:t>
            </a:r>
            <a:r>
              <a:rPr lang="en-US" altLang="zh-CN" sz="1600" dirty="0"/>
              <a:t> I/O </a:t>
            </a:r>
            <a:r>
              <a:rPr lang="zh-CN" altLang="en-US" sz="1600" dirty="0"/>
              <a:t>性能（内存访问速度远快于磁盘）。</a:t>
            </a:r>
            <a:endParaRPr lang="zh-CN" altLang="en-US" sz="1600" dirty="0"/>
          </a:p>
        </p:txBody>
      </p:sp>
      <p:pic>
        <p:nvPicPr>
          <p:cNvPr id="10" name="Image 0" descr="https://kimi-img.moonshot.cn/pub/slides/slides_tmpl/image/25-09-05-13:17:55-d2t750tnfo2stf9dihcg.png"/>
          <p:cNvPicPr>
            <a:picLocks noChangeAspect="1"/>
          </p:cNvPicPr>
          <p:nvPr/>
        </p:nvPicPr>
        <p:blipFill>
          <a:blip r:embed="rId1"/>
          <a:srcRect t="79" b="79"/>
          <a:stretch>
            <a:fillRect/>
          </a:stretch>
        </p:blipFill>
        <p:spPr>
          <a:xfrm>
            <a:off x="4942205" y="1550035"/>
            <a:ext cx="7285990" cy="399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缓冲池管理器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核心定位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2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5700" y="1489075"/>
            <a:ext cx="4816475" cy="701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5700" y="2449195"/>
            <a:ext cx="4816475" cy="3291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4" name="Text 11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6" name="Text 13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核心依赖关系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924560" y="1365885"/>
          <a:ext cx="10231120" cy="404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5560"/>
                <a:gridCol w="5115560"/>
              </a:tblGrid>
              <a:tr h="67500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依赖组件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作用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89852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可扩展哈希表（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page_table_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存储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page_id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与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frame_id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的映射关系，支持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O (1)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时间查找页面在缓冲池中的位置。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89916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LRU-K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替换器（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replacer_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跟踪帧的访问状态，在缓冲池满时，按策略淘汰 “最不值得保留” 的帧，腾出空间。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67437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空闲帧列表（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free_list_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管理缓冲池中未使用的帧，快速分配空闲资源。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89916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磁盘管理器（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disk_manager_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实际执行磁盘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I/O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操作（读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/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写页面），缓冲池仅调用其接口，不关心底层实现。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470" y="1172845"/>
            <a:ext cx="6561455" cy="59277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新建页面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核心逻辑：分配空闲帧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生成新页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ID </a:t>
            </a:r>
            <a:r>
              <a:rPr lang="en-US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初始化页面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更新元数据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代码：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略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设计理由：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空闲列表优先：比淘汰帧更高效，减少磁盘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I/O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；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脏页写回：淘汰帧前必须刷新脏页（内存页与磁盘页内容不一致）；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pin_count_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初始化：新建页面后，上层模块必然会使用，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pin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住避免被误淘汰；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替换器状态更新：标记为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“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不可淘汰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，符合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LRU-K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替换器的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“evictable”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属性规则。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获取页面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核心逻辑：查找页表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内存命中直接返回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未命中则加载磁盘页</a:t>
            </a: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30000"/>
              </a:lnSpc>
            </a:pPr>
            <a:endParaRPr lang="zh-CN" altLang="en-US" sz="1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5810" y="6577965"/>
            <a:ext cx="215900" cy="4959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9-05-13:17:53-d2t750dnfo2stf9dihb0.png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 flipH="1">
            <a:off x="7316470" y="-13970"/>
            <a:ext cx="4875530" cy="693801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</a:t>
            </a:r>
            <a:r>
              <a:rPr lang="zh-CN" altLang="en-US" sz="2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与代码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9-05-13:17:53-d2t750dnfo2stf9dihb0.png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 flipH="1">
            <a:off x="7316470" y="-13970"/>
            <a:ext cx="4875530" cy="693801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5400000">
            <a:off x="435610" y="123825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35610" y="2324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24510" y="2324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271780" y="689610"/>
            <a:ext cx="7037070" cy="5156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设计理由：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页表优先查找：可扩展哈希表提供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O (1)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查找；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引用计数递增：每次获取页面都增加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pin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计数，避免使用中被淘汰；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磁盘加载逻辑：仅当页面不在内存时读磁盘，体现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“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缓存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”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核心思想。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3.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解锁页面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核心逻辑：减少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pin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计数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→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标记脏页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→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pin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0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时允许淘汰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设计理由：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脏页标记时机：仅在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Unpin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时传入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is_dirty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；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淘汰状态切换：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pin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计数为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0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表示无线程使用，标记为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“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可淘汰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”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，让替换器感知；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非法状态校验：避免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pin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计数为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0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时继续解锁，保证数据一致性。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4.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刷新页面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核心逻辑：按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page_id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刷新单个页面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/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遍历所有页面刷新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endParaRPr lang="zh-CN" altLang="en-US" sz="200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08610" y="983615"/>
            <a:ext cx="6962140" cy="44481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设计理由：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页表查找校验：仅刷新缓冲池中的页面（不在则返回失败）；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全量刷新：满足事务提交、数据库关闭等场景，确保所有脏页持久化；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脏标记重置：刷新后内存与磁盘页一致，避免重复写回。</a:t>
            </a:r>
            <a:endParaRPr lang="zh-CN" alt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5.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删除页面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dirty="0"/>
              <a:t>核心逻辑：校验页面状态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移除页表</a:t>
            </a:r>
            <a:r>
              <a:rPr lang="en-US" altLang="zh-CN" dirty="0"/>
              <a:t> / </a:t>
            </a:r>
            <a:r>
              <a:rPr lang="zh-CN" altLang="en-US" dirty="0"/>
              <a:t>替换器映射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回收帧到空闲列表</a:t>
            </a:r>
            <a:endParaRPr lang="zh-CN" altLang="en-US" dirty="0"/>
          </a:p>
          <a:p>
            <a:pPr algn="just">
              <a:lnSpc>
                <a:spcPct val="130000"/>
              </a:lnSpc>
            </a:pPr>
            <a:r>
              <a:rPr lang="zh-CN" altLang="en-US" dirty="0"/>
              <a:t>设计理由：</a:t>
            </a:r>
            <a:endParaRPr lang="zh-CN" altLang="en-US" dirty="0"/>
          </a:p>
          <a:p>
            <a:pPr algn="just">
              <a:lnSpc>
                <a:spcPct val="130000"/>
              </a:lnSpc>
            </a:pPr>
            <a:r>
              <a:rPr lang="en-US" altLang="zh-CN" dirty="0"/>
              <a:t>pin </a:t>
            </a:r>
            <a:r>
              <a:rPr lang="zh-CN" altLang="en-US" dirty="0"/>
              <a:t>计数校验：避免删除正在使用的页面；</a:t>
            </a:r>
            <a:endParaRPr lang="zh-CN" altLang="en-US" dirty="0"/>
          </a:p>
          <a:p>
            <a:pPr algn="just">
              <a:lnSpc>
                <a:spcPct val="130000"/>
              </a:lnSpc>
            </a:pPr>
            <a:r>
              <a:rPr lang="zh-CN" altLang="en-US" dirty="0"/>
              <a:t>替换器</a:t>
            </a:r>
            <a:r>
              <a:rPr lang="en-US" altLang="zh-CN" dirty="0"/>
              <a:t> / </a:t>
            </a:r>
            <a:r>
              <a:rPr lang="zh-CN" altLang="en-US" dirty="0"/>
              <a:t>页表清理：移除映射关系，避免后续操作误引用；</a:t>
            </a:r>
            <a:endParaRPr lang="zh-CN" altLang="en-US" dirty="0"/>
          </a:p>
          <a:p>
            <a:pPr algn="just">
              <a:lnSpc>
                <a:spcPct val="130000"/>
              </a:lnSpc>
            </a:pPr>
            <a:r>
              <a:rPr lang="zh-CN" altLang="en-US" dirty="0"/>
              <a:t>帧回收：重置页面后放回空闲列表，实现帧的复用。</a:t>
            </a:r>
            <a:endParaRPr lang="zh-CN" altLang="en-US" dirty="0"/>
          </a:p>
        </p:txBody>
      </p:sp>
      <p:sp>
        <p:nvSpPr>
          <p:cNvPr id="5" name="Shape 3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9-05-13:17:53-d2t750dnfo2stf9dihb0.png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 flipH="1">
            <a:off x="7316470" y="-13970"/>
            <a:ext cx="4875530" cy="693801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5400000">
            <a:off x="308610" y="2324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390525" y="296545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137160" y="-9652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71728" y="3008316"/>
            <a:ext cx="7048545" cy="14370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B+</a:t>
            </a:r>
            <a:r>
              <a:rPr lang="zh-CN" alt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树查找，插入，删除</a:t>
            </a:r>
            <a:endParaRPr lang="zh-CN" alt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6-d2t7515nfo2stf9dihh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0"/>
            <a:ext cx="121989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725" y="855980"/>
            <a:ext cx="11229975" cy="5527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270" y="1337945"/>
            <a:ext cx="10617835" cy="45078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76145" y="1593215"/>
            <a:ext cx="8183880" cy="35109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核心原理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插入仅在叶子节点进行，内部节点仅存储索引键；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插入后节点满（键数量</a:t>
            </a:r>
            <a:r>
              <a:rPr lang="en-US" altLang="zh-CN" sz="1600" dirty="0"/>
              <a:t>≥max_size</a:t>
            </a:r>
            <a:r>
              <a:rPr lang="zh-CN" altLang="en-US" sz="1600" dirty="0"/>
              <a:t>）则触发分裂，分裂后将中间键插入父节点，递归向上直至根节点；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支持唯一键，重复键插入返回</a:t>
            </a:r>
            <a:r>
              <a:rPr lang="en-US" altLang="zh-CN" sz="1600" dirty="0"/>
              <a:t> false</a:t>
            </a:r>
            <a:r>
              <a:rPr lang="zh-CN" altLang="en-US" sz="1600" dirty="0"/>
              <a:t>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根节点分裂时需新建根，树高</a:t>
            </a:r>
            <a:r>
              <a:rPr lang="en-US" altLang="zh-CN" sz="1600" dirty="0"/>
              <a:t> + 1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树的</a:t>
            </a:r>
            <a:r>
              <a:rPr lang="zh-CN" altLang="en-US" sz="1600" dirty="0"/>
              <a:t>数据结构：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class BPlusTree {</a:t>
            </a:r>
            <a:endParaRPr lang="en-US" altLang="zh-CN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    std::string index_name_;           // </a:t>
            </a:r>
            <a:r>
              <a:rPr lang="zh-CN" altLang="en-US" sz="1600" dirty="0"/>
              <a:t>索引名称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    page_id_t root_page_id_;          // </a:t>
            </a:r>
            <a:r>
              <a:rPr lang="zh-CN" altLang="en-US" sz="1600" dirty="0"/>
              <a:t>根页面</a:t>
            </a:r>
            <a:r>
              <a:rPr lang="en-US" altLang="zh-CN" sz="1600" dirty="0"/>
              <a:t>ID</a:t>
            </a:r>
            <a:endParaRPr lang="en-US" altLang="zh-CN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    BufferPoolManager *buffer_pool_manager_; // </a:t>
            </a:r>
            <a:r>
              <a:rPr lang="zh-CN" altLang="en-US" sz="1600" dirty="0"/>
              <a:t>缓冲区管理器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    KeyComparator comparator_;        // </a:t>
            </a:r>
            <a:r>
              <a:rPr lang="zh-CN" altLang="en-US" sz="1600" dirty="0"/>
              <a:t>键比较器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    int leaf_max_size_, internal_max_size_; // </a:t>
            </a:r>
            <a:r>
              <a:rPr lang="zh-CN" altLang="en-US" sz="1600" dirty="0"/>
              <a:t>节点容量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en-US" altLang="zh-CN" sz="1600" dirty="0"/>
              <a:t>};</a:t>
            </a:r>
            <a:endParaRPr lang="en-US" altLang="zh-CN" sz="1600" dirty="0"/>
          </a:p>
        </p:txBody>
      </p:sp>
      <p:sp>
        <p:nvSpPr>
          <p:cNvPr id="10" name="Text 7"/>
          <p:cNvSpPr/>
          <p:nvPr/>
        </p:nvSpPr>
        <p:spPr>
          <a:xfrm>
            <a:off x="4392929" y="1904153"/>
            <a:ext cx="3413125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B+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树的插入</a:t>
            </a:r>
            <a:endParaRPr lang="zh-CN" alt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135380"/>
            <a:ext cx="10833100" cy="4544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/>
              <a:t>空树处理：若树为空，创建根节点作为第一个叶子节点，采用双重检查锁避免并发创建冲突。</a:t>
            </a: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查找目标叶子页：调用</a:t>
            </a:r>
            <a:r>
              <a:rPr lang="en-US" altLang="zh-CN" sz="1400" dirty="0"/>
              <a:t> FindLeafPage </a:t>
            </a:r>
            <a:r>
              <a:rPr lang="zh-CN" altLang="en-US" sz="1400" dirty="0"/>
              <a:t>方法，从根开始沿索引路径向下查找，并在并发插入操作中采用</a:t>
            </a:r>
            <a:r>
              <a:rPr lang="en-US" altLang="zh-CN" sz="1400" dirty="0"/>
              <a:t>“</a:t>
            </a:r>
            <a:r>
              <a:rPr lang="zh-CN" altLang="en-US" sz="1400" dirty="0"/>
              <a:t>锁爬行</a:t>
            </a:r>
            <a:r>
              <a:rPr lang="en-US" altLang="zh-CN" sz="1400" dirty="0"/>
              <a:t>”</a:t>
            </a:r>
            <a:r>
              <a:rPr lang="zh-CN" altLang="en-US" sz="1400" dirty="0"/>
              <a:t>（</a:t>
            </a:r>
            <a:r>
              <a:rPr lang="en-US" altLang="zh-CN" sz="1400" dirty="0"/>
              <a:t>lock crabbing</a:t>
            </a:r>
            <a:r>
              <a:rPr lang="zh-CN" altLang="en-US" sz="1400" dirty="0"/>
              <a:t>）协议获取沿途节点的写锁，保证线程安全。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检查重复键：在目标叶子节点内顺序查找，若发现键已存在（</a:t>
            </a:r>
            <a:r>
              <a:rPr lang="en-US" altLang="zh-CN" sz="1400" dirty="0"/>
              <a:t>cmp == 0</a:t>
            </a:r>
            <a:r>
              <a:rPr lang="zh-CN" altLang="en-US" sz="1400" dirty="0"/>
              <a:t>），则标记重复并提前返回</a:t>
            </a:r>
            <a:r>
              <a:rPr lang="en-US" altLang="zh-CN" sz="1400" dirty="0"/>
              <a:t> false</a:t>
            </a:r>
            <a:r>
              <a:rPr lang="zh-CN" altLang="en-US" sz="1400" dirty="0"/>
              <a:t>（唯一索引约束）；否则确定键的插入位置，保持叶子内按键有序。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插入键值对：将插入位置之后的元素依次后移，腾出空间，然后将新键值对放入该位置，并更新叶子节点的键值对数量。</a:t>
            </a: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节点分裂判断：检查插入后叶子节点是否已满（</a:t>
            </a:r>
            <a:r>
              <a:rPr lang="en-US" altLang="zh-CN" sz="1400" dirty="0"/>
              <a:t>size &gt;= max_size</a:t>
            </a:r>
            <a:r>
              <a:rPr lang="zh-CN" altLang="en-US" sz="1400" dirty="0"/>
              <a:t>）。若满，则创建新叶子页。</a:t>
            </a: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将原叶子后半部分数据移至新叶子。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更新新旧叶子的前后指针（维护叶子链表）。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zh-CN" altLang="en-US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将新叶子的第一个键（分裂点键）插入父节点，递归处理父节点的插入与分裂（</a:t>
            </a:r>
            <a:r>
              <a:rPr lang="en-US" altLang="zh-CN" sz="1400" dirty="0"/>
              <a:t>InsertIntoParent</a:t>
            </a:r>
            <a:r>
              <a:rPr lang="zh-CN" altLang="en-US" sz="1400" dirty="0"/>
              <a:t>）。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// </a:t>
            </a:r>
            <a:r>
              <a:rPr lang="zh-CN" altLang="en-US" sz="1000" dirty="0"/>
              <a:t>叶子节点分裂</a:t>
            </a:r>
            <a:endParaRPr lang="zh-CN" altLang="en-US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int split_index = leaf_node-&gt;GetSize() / 2;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for (int i = 0; i &lt; new_size; i++) {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new_leaf-&gt;GetItem(i) = leaf_node-&gt;GetItem(split_index + i);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}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// </a:t>
            </a:r>
            <a:r>
              <a:rPr lang="zh-CN" altLang="en-US" sz="1000" dirty="0"/>
              <a:t>递归插入到父节点</a:t>
            </a:r>
            <a:endParaRPr lang="zh-CN" altLang="en-US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InsertIntoParent(parent_id, leaf_page_id, middle_key, new_page_id, transaction);</a:t>
            </a:r>
            <a:endParaRPr lang="en-US" altLang="zh-CN" sz="10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代码逻辑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5925" y="1557655"/>
            <a:ext cx="9827260" cy="49701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关键设计理由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双重检查空树：避免多线程同时创建根节点；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锁爬行查找：通过</a:t>
            </a:r>
            <a:r>
              <a:rPr lang="en-US" altLang="zh-CN" sz="1600" dirty="0"/>
              <a:t>FindLeafPage</a:t>
            </a:r>
            <a:r>
              <a:rPr lang="zh-CN" altLang="en-US" sz="1600" dirty="0"/>
              <a:t>按</a:t>
            </a:r>
            <a:r>
              <a:rPr lang="en-US" altLang="zh-CN" sz="1600" dirty="0"/>
              <a:t> “</a:t>
            </a:r>
            <a:r>
              <a:rPr lang="zh-CN" altLang="en-US" sz="1600" dirty="0"/>
              <a:t>父</a:t>
            </a:r>
            <a:r>
              <a:rPr lang="en-US" altLang="en-US" sz="1600" dirty="0"/>
              <a:t>→</a:t>
            </a:r>
            <a:r>
              <a:rPr lang="zh-CN" altLang="en-US" sz="1600" dirty="0"/>
              <a:t>子</a:t>
            </a:r>
            <a:r>
              <a:rPr lang="en-US" altLang="zh-CN" sz="1600" dirty="0"/>
              <a:t>” </a:t>
            </a:r>
            <a:r>
              <a:rPr lang="zh-CN" altLang="en-US" sz="1600" dirty="0"/>
              <a:t>顺序加写锁，安全节点提前释放父锁，提升并发性能；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有序插入：遍历找到插入位置并移动元素，保证叶子节点键有序；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递归分裂：分裂后通过</a:t>
            </a:r>
            <a:r>
              <a:rPr lang="en-US" altLang="zh-CN" sz="1600" dirty="0"/>
              <a:t>InsertIntoParent</a:t>
            </a:r>
            <a:r>
              <a:rPr lang="zh-CN" altLang="en-US" sz="1600" dirty="0"/>
              <a:t>将中间键插入父节点，递归处理父节点满的情况，确保树平衡；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资源释放：操作后解锁并取消固定页面，避免缓冲池资源泄漏。</a:t>
            </a:r>
            <a:endParaRPr lang="zh-CN" alt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设计理由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6-d2t7515nfo2stf9dihh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0"/>
            <a:ext cx="121989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725" y="855980"/>
            <a:ext cx="11229975" cy="5527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270" y="1337945"/>
            <a:ext cx="10617835" cy="45078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76145" y="1593215"/>
            <a:ext cx="8183880" cy="35109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核心原理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点查询仅返回叶子节点中的匹配值，内部节点仅用于导航；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从根节点递归向下，通过二分查找确定子节点方向，直至叶子节点；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叶子节点中遍历</a:t>
            </a:r>
            <a:r>
              <a:rPr lang="en-US" altLang="zh-CN" sz="1600" dirty="0"/>
              <a:t> / </a:t>
            </a:r>
            <a:r>
              <a:rPr lang="zh-CN" altLang="en-US" sz="1600" dirty="0"/>
              <a:t>二分查找目标键，未找到返回</a:t>
            </a:r>
            <a:r>
              <a:rPr lang="en-US" altLang="zh-CN" sz="1600" dirty="0"/>
              <a:t> false</a:t>
            </a:r>
            <a:r>
              <a:rPr lang="zh-CN" altLang="en-US" sz="1600" dirty="0"/>
              <a:t>。</a:t>
            </a:r>
            <a:endParaRPr lang="zh-CN" alt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92929" y="1904153"/>
            <a:ext cx="3413125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B+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树的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查询</a:t>
            </a:r>
            <a:endParaRPr lang="zh-CN" alt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135380"/>
            <a:ext cx="10833100" cy="4544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/>
              <a:t>锁爬行查找叶子节点：调用</a:t>
            </a:r>
            <a:r>
              <a:rPr lang="en-US" altLang="zh-CN" sz="1400" dirty="0"/>
              <a:t> FindLeafPage </a:t>
            </a:r>
            <a:r>
              <a:rPr lang="zh-CN" altLang="en-US" sz="1400" dirty="0"/>
              <a:t>方法，沿索引路径从根向下查找目标叶子节点。该过程对沿途节点加读锁，并在获取子节点锁后立即释放父节点锁（</a:t>
            </a:r>
            <a:r>
              <a:rPr lang="en-US" altLang="zh-CN" sz="1400" dirty="0"/>
              <a:t>“</a:t>
            </a:r>
            <a:r>
              <a:rPr lang="zh-CN" altLang="en-US" sz="1400" dirty="0"/>
              <a:t>安全节点</a:t>
            </a:r>
            <a:r>
              <a:rPr lang="en-US" altLang="zh-CN" sz="1400" dirty="0"/>
              <a:t>”</a:t>
            </a:r>
            <a:r>
              <a:rPr lang="zh-CN" altLang="en-US" sz="1400" dirty="0"/>
              <a:t>释放），以最小化锁竞争，提升并发读性能。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Page* FindLeafPage(const KeyType &amp;key, bool left_most, OperationType op, Transaction *transaction) {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// </a:t>
            </a:r>
            <a:r>
              <a:rPr lang="zh-CN" altLang="en-US" sz="1000" dirty="0"/>
              <a:t>从根节点开始加锁</a:t>
            </a:r>
            <a:endParaRPr lang="zh-CN" altLang="en-US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if (op == OperationType::SEARCH) page-&gt;RLatch();  // </a:t>
            </a:r>
            <a:r>
              <a:rPr lang="zh-CN" altLang="en-US" sz="1000" dirty="0"/>
              <a:t>读锁</a:t>
            </a:r>
            <a:endParaRPr lang="zh-CN" altLang="en-US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else page-&gt;WLatch();  // </a:t>
            </a:r>
            <a:r>
              <a:rPr lang="zh-CN" altLang="en-US" sz="1000" dirty="0"/>
              <a:t>写锁</a:t>
            </a:r>
            <a:endParaRPr lang="zh-CN" altLang="en-US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// </a:t>
            </a:r>
            <a:r>
              <a:rPr lang="zh-CN" altLang="en-US" sz="1000" dirty="0"/>
              <a:t>检查子节点是否</a:t>
            </a:r>
            <a:r>
              <a:rPr lang="en-US" altLang="zh-CN" sz="1000" dirty="0"/>
              <a:t>"</a:t>
            </a:r>
            <a:r>
              <a:rPr lang="zh-CN" altLang="en-US" sz="1000" dirty="0"/>
              <a:t>安全</a:t>
            </a:r>
            <a:r>
              <a:rPr lang="en-US" altLang="zh-CN" sz="1000" dirty="0"/>
              <a:t>"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bool is_safe = IsSafe(child_node, op);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if (op == OperationType::SEARCH || is_safe) {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    // </a:t>
            </a:r>
            <a:r>
              <a:rPr lang="zh-CN" altLang="en-US" sz="1000" dirty="0"/>
              <a:t>安全时释放父锁，只保留子锁</a:t>
            </a:r>
            <a:endParaRPr lang="zh-CN" altLang="en-US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    ReleaseParentLock();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}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    // </a:t>
            </a:r>
            <a:r>
              <a:rPr lang="zh-CN" altLang="en-US" sz="1000" dirty="0"/>
              <a:t>不安全时保留所有锁（防止分裂</a:t>
            </a:r>
            <a:r>
              <a:rPr lang="en-US" altLang="zh-CN" sz="1000" dirty="0"/>
              <a:t>/</a:t>
            </a:r>
            <a:r>
              <a:rPr lang="zh-CN" altLang="en-US" sz="1000" dirty="0"/>
              <a:t>合并导致的竞争）</a:t>
            </a:r>
            <a:endParaRPr lang="zh-CN" altLang="en-US" sz="1000" dirty="0"/>
          </a:p>
          <a:p>
            <a:pPr algn="just">
              <a:lnSpc>
                <a:spcPct val="130000"/>
              </a:lnSpc>
            </a:pPr>
            <a:r>
              <a:rPr lang="en-US" altLang="zh-CN" sz="1000" dirty="0"/>
              <a:t>}</a:t>
            </a:r>
            <a:endParaRPr lang="en-US" altLang="zh-CN" sz="10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叶子节点中查找键：在叶子节点内部按顺序遍历键值对（</a:t>
            </a:r>
            <a:r>
              <a:rPr lang="en-US" altLang="zh-CN" sz="1400" dirty="0"/>
              <a:t>B+ </a:t>
            </a:r>
            <a:r>
              <a:rPr lang="zh-CN" altLang="en-US" sz="1400" dirty="0"/>
              <a:t>树叶子节点按键有序存储），当找到与查询键完全相等的键时，将其对应的值加入结果集并标记找到；同时利用有序特性，当遇到第一个大于查询键的键时，提前终止遍历，提高查找效率。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解锁与资源清理：释放叶子节点的读锁，并调用</a:t>
            </a:r>
            <a:r>
              <a:rPr lang="en-US" altLang="zh-CN" sz="1400" dirty="0"/>
              <a:t> UnpinPage </a:t>
            </a:r>
            <a:r>
              <a:rPr lang="zh-CN" altLang="en-US" sz="1400" dirty="0"/>
              <a:t>通知缓冲池管理器该页的访问结束（参数</a:t>
            </a:r>
            <a:r>
              <a:rPr lang="en-US" altLang="zh-CN" sz="1400" dirty="0"/>
              <a:t> false </a:t>
            </a:r>
            <a:r>
              <a:rPr lang="zh-CN" altLang="en-US" sz="1400" dirty="0"/>
              <a:t>表示页面未修改，非脏页）。最后清理事务中记录的页面集合，释放相关资源。</a:t>
            </a:r>
            <a:endParaRPr lang="en-US" altLang="zh-CN" sz="14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代码逻辑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5925" y="1557655"/>
            <a:ext cx="9827260" cy="49701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关键设计理由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读锁优化：查询加读锁，支持多线程并发查询；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提前终止遍历：利用叶子节点键有序特性，当当前键大于目标键时直接终止，提升效率；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仅叶子节点匹配：符合文档</a:t>
            </a:r>
            <a:r>
              <a:rPr lang="en-US" altLang="zh-CN" sz="1600" dirty="0"/>
              <a:t> “</a:t>
            </a:r>
            <a:r>
              <a:rPr lang="zh-CN" altLang="en-US" sz="1600" dirty="0"/>
              <a:t>所有数据在叶子节点</a:t>
            </a:r>
            <a:r>
              <a:rPr lang="en-US" altLang="zh-CN" sz="1600" dirty="0"/>
              <a:t>” </a:t>
            </a:r>
            <a:r>
              <a:rPr lang="zh-CN" altLang="en-US" sz="1600" dirty="0"/>
              <a:t>特性，内部节点不存储实际值；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事务资源清理：释放所有祖先节点锁，避免锁泄漏。</a:t>
            </a:r>
            <a:endParaRPr lang="zh-CN" alt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设计理由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6-d2t7515nfo2stf9dihh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0"/>
            <a:ext cx="121989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725" y="855980"/>
            <a:ext cx="11229975" cy="5527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270" y="1337945"/>
            <a:ext cx="10617835" cy="45078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76145" y="1593215"/>
            <a:ext cx="8183880" cy="35109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核心原理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删除仅在叶子节点进行，内部节点键通过</a:t>
            </a:r>
            <a:r>
              <a:rPr lang="en-US" altLang="zh-CN" sz="1600" dirty="0"/>
              <a:t> “</a:t>
            </a:r>
            <a:r>
              <a:rPr lang="zh-CN" altLang="en-US" sz="1600" dirty="0"/>
              <a:t>后继键替换</a:t>
            </a:r>
            <a:r>
              <a:rPr lang="en-US" altLang="zh-CN" sz="1600" dirty="0"/>
              <a:t>” </a:t>
            </a:r>
            <a:r>
              <a:rPr lang="zh-CN" altLang="en-US" sz="1600" dirty="0"/>
              <a:t>间接删除；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删除后节点键数量＜</a:t>
            </a:r>
            <a:r>
              <a:rPr lang="en-US" altLang="zh-CN" sz="1600" dirty="0"/>
              <a:t>min_size</a:t>
            </a:r>
            <a:r>
              <a:rPr lang="zh-CN" altLang="en-US" sz="1600" dirty="0"/>
              <a:t>（欠载），优先从兄弟节点</a:t>
            </a:r>
            <a:r>
              <a:rPr lang="en-US" altLang="zh-CN" sz="1600" dirty="0"/>
              <a:t> “</a:t>
            </a:r>
            <a:r>
              <a:rPr lang="zh-CN" altLang="en-US" sz="1600" dirty="0"/>
              <a:t>偷取</a:t>
            </a:r>
            <a:r>
              <a:rPr lang="en-US" altLang="zh-CN" sz="1600" dirty="0"/>
              <a:t>” </a:t>
            </a:r>
            <a:r>
              <a:rPr lang="zh-CN" altLang="en-US" sz="1600" dirty="0"/>
              <a:t>键，无法偷取则合并节点；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合并节点时需删除父节点中的对应索引键，递归向上处理父节点欠载；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根节点合并后若仅存一个子节点，子节点成为新根（树高</a:t>
            </a:r>
            <a:r>
              <a:rPr lang="en-US" altLang="zh-CN" sz="1600" dirty="0"/>
              <a:t> - 1</a:t>
            </a:r>
            <a:r>
              <a:rPr lang="zh-CN" altLang="en-US" sz="1600" dirty="0"/>
              <a:t>）。</a:t>
            </a:r>
            <a:endParaRPr lang="zh-CN" alt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92929" y="1904153"/>
            <a:ext cx="3413125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B+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树的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删除</a:t>
            </a:r>
            <a:endParaRPr lang="zh-CN" alt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135380"/>
            <a:ext cx="10833100" cy="4544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/>
              <a:t>锁爬行查找叶子节点：调用</a:t>
            </a:r>
            <a:r>
              <a:rPr lang="en-US" altLang="zh-CN" sz="1400" dirty="0"/>
              <a:t> FindLeafPage </a:t>
            </a:r>
            <a:r>
              <a:rPr lang="zh-CN" altLang="en-US" sz="1400" dirty="0"/>
              <a:t>方法，沿索引路径从根向下查找目标叶子节点。该过程对沿途节点加写锁，为删除操作提供并发安全保证。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查找并删除键：在叶子节点内顺序查找目标键，找到后（</a:t>
            </a:r>
            <a:r>
              <a:rPr lang="en-US" altLang="zh-CN" sz="1400" dirty="0"/>
              <a:t>delete_pos</a:t>
            </a:r>
            <a:r>
              <a:rPr lang="zh-CN" altLang="en-US" sz="1400" dirty="0"/>
              <a:t>）将其后的元素依次前移以填补空缺，完成节点内删除并更新节点键值对数量。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欠载处理（合并或重分配）：检查删除后叶子节点是否低于最小键数量（</a:t>
            </a:r>
            <a:r>
              <a:rPr lang="en-US" altLang="zh-CN" sz="1400" dirty="0"/>
              <a:t>size &lt; min_size</a:t>
            </a:r>
            <a:r>
              <a:rPr lang="zh-CN" altLang="en-US" sz="1400" dirty="0"/>
              <a:t>）且非根节点。若欠载，则调用</a:t>
            </a:r>
            <a:r>
              <a:rPr lang="en-US" altLang="zh-CN" sz="1400" dirty="0"/>
              <a:t> CoalesceOrRedistribute </a:t>
            </a:r>
            <a:r>
              <a:rPr lang="zh-CN" altLang="en-US" sz="1400" dirty="0"/>
              <a:t>函数，优先尝试从相邻兄弟节点</a:t>
            </a:r>
            <a:r>
              <a:rPr lang="en-US" altLang="zh-CN" sz="1400" dirty="0"/>
              <a:t>“</a:t>
            </a:r>
            <a:r>
              <a:rPr lang="zh-CN" altLang="en-US" sz="1400" dirty="0"/>
              <a:t>借</a:t>
            </a:r>
            <a:r>
              <a:rPr lang="en-US" altLang="zh-CN" sz="1400" dirty="0"/>
              <a:t>”</a:t>
            </a:r>
            <a:r>
              <a:rPr lang="zh-CN" altLang="en-US" sz="1400" dirty="0"/>
              <a:t>一个键（重分配），若兄弟节点也无多余键则与兄弟节点合并，以维持</a:t>
            </a:r>
            <a:r>
              <a:rPr lang="en-US" altLang="zh-CN" sz="1400" dirty="0"/>
              <a:t> B+ </a:t>
            </a:r>
            <a:r>
              <a:rPr lang="zh-CN" altLang="en-US" sz="1400" dirty="0"/>
              <a:t>树节点填充率。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根节点特殊处理：若删除导致根节点为空（仅剩一个子节点），则将子节点提升为新根，降低树高，保持树结构平衡。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递归向上处理：在合并操作中，若父节点因键被删除而欠载，则递归调用</a:t>
            </a:r>
            <a:r>
              <a:rPr lang="en-US" altLang="zh-CN" sz="1400" dirty="0"/>
              <a:t> CoalesceOrRedistribute </a:t>
            </a:r>
            <a:r>
              <a:rPr lang="zh-CN" altLang="en-US" sz="1400" dirty="0"/>
              <a:t>处理父节点，确保整棵树从上到下保持平衡。</a:t>
            </a:r>
            <a:endParaRPr lang="zh-CN" altLang="en-US" sz="14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代码逻辑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5925" y="1557655"/>
            <a:ext cx="9827260" cy="49701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关键设计理由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欠载判断：仅非根节点触发合并</a:t>
            </a:r>
            <a:r>
              <a:rPr lang="en-US" altLang="zh-CN" sz="1600" dirty="0"/>
              <a:t> / </a:t>
            </a:r>
            <a:r>
              <a:rPr lang="zh-CN" altLang="en-US" sz="1600" dirty="0"/>
              <a:t>重分配；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重分配优先：先从兄弟节点偷取键，避免频繁合并；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合并后父节点处理：合并节点后删除父节点中的对应键，递归检查父节点欠载，确保树平衡；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死锁避免：获取兄弟节点锁时按</a:t>
            </a:r>
            <a:r>
              <a:rPr lang="en-US" altLang="zh-CN" sz="1600" dirty="0"/>
              <a:t>page_id</a:t>
            </a:r>
            <a:r>
              <a:rPr lang="zh-CN" altLang="en-US" sz="1600" dirty="0"/>
              <a:t>升序，避免循环等待；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根节点降级：根节点合并后仅存一个子节点时，子节点成为新根。</a:t>
            </a:r>
            <a:endParaRPr lang="zh-CN" alt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设计理由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81617" y="2994970"/>
            <a:ext cx="7689175" cy="14370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B+</a:t>
            </a:r>
            <a:r>
              <a:rPr lang="zh-CN" altLang="en-US" sz="44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树并发</a:t>
            </a:r>
            <a:endParaRPr lang="zh-CN" altLang="en-US" sz="44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6-d2t7515nfo2stf9dihh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0"/>
            <a:ext cx="121989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725" y="855980"/>
            <a:ext cx="11229975" cy="5527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270" y="1337945"/>
            <a:ext cx="10617835" cy="45078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76145" y="1593215"/>
            <a:ext cx="8183880" cy="35109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采用</a:t>
            </a:r>
            <a:r>
              <a:rPr lang="en-US" altLang="zh-CN" sz="1600" dirty="0"/>
              <a:t> “</a:t>
            </a:r>
            <a:r>
              <a:rPr lang="zh-CN" altLang="en-US" sz="1600" dirty="0"/>
              <a:t>轻量级锁（</a:t>
            </a:r>
            <a:r>
              <a:rPr lang="en-US" altLang="zh-CN" sz="1600" dirty="0"/>
              <a:t>Latch</a:t>
            </a:r>
            <a:r>
              <a:rPr lang="zh-CN" altLang="en-US" sz="1600" dirty="0"/>
              <a:t>）</a:t>
            </a:r>
            <a:r>
              <a:rPr lang="en-US" altLang="zh-CN" sz="1600" dirty="0"/>
              <a:t>” </a:t>
            </a:r>
            <a:r>
              <a:rPr lang="zh-CN" altLang="en-US" sz="1600" dirty="0"/>
              <a:t>保护内存中</a:t>
            </a:r>
            <a:r>
              <a:rPr lang="en-US" altLang="zh-CN" sz="1600" dirty="0"/>
              <a:t> B + </a:t>
            </a:r>
            <a:r>
              <a:rPr lang="zh-CN" altLang="en-US" sz="1600" dirty="0"/>
              <a:t>树节点，锁持有时间短；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锁模式：读锁（共享，支持并发查询）、写锁（排他，插入</a:t>
            </a:r>
            <a:r>
              <a:rPr lang="en-US" altLang="zh-CN" sz="1600" dirty="0"/>
              <a:t> / </a:t>
            </a:r>
            <a:r>
              <a:rPr lang="zh-CN" altLang="en-US" sz="1600" dirty="0"/>
              <a:t>删除时使用）；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锁爬行规则：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自上而下加锁（先父节点，后子节点）；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子节点</a:t>
            </a:r>
            <a:r>
              <a:rPr lang="en-US" altLang="zh-CN" sz="1600" dirty="0"/>
              <a:t> “</a:t>
            </a:r>
            <a:r>
              <a:rPr lang="zh-CN" altLang="en-US" sz="1600" dirty="0"/>
              <a:t>安全</a:t>
            </a:r>
            <a:r>
              <a:rPr lang="en-US" altLang="zh-CN" sz="1600" dirty="0"/>
              <a:t>” </a:t>
            </a:r>
            <a:r>
              <a:rPr lang="zh-CN" altLang="en-US" sz="1600" dirty="0"/>
              <a:t>则释放父节点锁（安全定义：插入时未满、删除时至少半满、查询时任意节点）；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避免死锁：按固定顺序加锁（如</a:t>
            </a:r>
            <a:r>
              <a:rPr lang="en-US" altLang="zh-CN" sz="1600" dirty="0"/>
              <a:t> page_id </a:t>
            </a:r>
            <a:r>
              <a:rPr lang="zh-CN" altLang="en-US" sz="1600" dirty="0"/>
              <a:t>升序）。</a:t>
            </a:r>
            <a:endParaRPr lang="zh-CN" alt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92929" y="1904153"/>
            <a:ext cx="3413125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核心原理</a:t>
            </a:r>
            <a:endParaRPr lang="zh-CN" alt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135380"/>
            <a:ext cx="10833100" cy="4544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 b="1" dirty="0"/>
              <a:t>核心思想：通过</a:t>
            </a:r>
            <a:r>
              <a:rPr lang="en-US" altLang="zh-CN" sz="2000" b="1" dirty="0"/>
              <a:t>“</a:t>
            </a:r>
            <a:r>
              <a:rPr lang="zh-CN" altLang="en-US" sz="2000" b="1" dirty="0"/>
              <a:t>获取子锁</a:t>
            </a:r>
            <a:r>
              <a:rPr lang="en-US" altLang="zh-CN" sz="2000" b="1" dirty="0"/>
              <a:t> </a:t>
            </a:r>
            <a:r>
              <a:rPr lang="en-US" altLang="en-US" sz="2000" b="1" dirty="0"/>
              <a:t>→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判断安全</a:t>
            </a:r>
            <a:r>
              <a:rPr lang="en-US" altLang="zh-CN" sz="2000" b="1" dirty="0"/>
              <a:t> </a:t>
            </a:r>
            <a:r>
              <a:rPr lang="en-US" altLang="en-US" sz="2000" b="1" dirty="0"/>
              <a:t>→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释放父锁</a:t>
            </a:r>
            <a:r>
              <a:rPr lang="en-US" altLang="zh-CN" sz="2000" b="1" dirty="0"/>
              <a:t>”</a:t>
            </a:r>
            <a:endParaRPr lang="en-US" altLang="zh-CN" sz="2000" b="1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根节点加锁：根据操作类型（查询</a:t>
            </a:r>
            <a:r>
              <a:rPr lang="en-US" altLang="zh-CN" sz="1400" dirty="0"/>
              <a:t>/</a:t>
            </a:r>
            <a:r>
              <a:rPr lang="zh-CN" altLang="en-US" sz="1400" dirty="0"/>
              <a:t>插入</a:t>
            </a:r>
            <a:r>
              <a:rPr lang="en-US" altLang="zh-CN" sz="1400" dirty="0"/>
              <a:t>/</a:t>
            </a:r>
            <a:r>
              <a:rPr lang="zh-CN" altLang="en-US" sz="1400" dirty="0"/>
              <a:t>删除）为根节点加相应的读锁或写锁，并将页面加入事务的页面集，以便后续统一管理。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自上而下遍历：循环判断当前节点是否为叶子节点，如果不是，则根据键值（或最左标志）找到下一个子节点的</a:t>
            </a:r>
            <a:r>
              <a:rPr lang="en-US" altLang="zh-CN" sz="1400" dirty="0"/>
              <a:t> ID</a:t>
            </a:r>
            <a:r>
              <a:rPr lang="zh-CN" altLang="en-US" sz="1400" dirty="0"/>
              <a:t>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获取子节点并加锁：从缓冲池获取子节点页面，并根据操作类型为子节点加锁，确保后续操作在子节点上安全进行。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安全节点判断与父锁释放：调用</a:t>
            </a:r>
            <a:r>
              <a:rPr lang="en-US" altLang="zh-CN" sz="1400" dirty="0"/>
              <a:t> IsSafe </a:t>
            </a:r>
            <a:r>
              <a:rPr lang="zh-CN" altLang="en-US" sz="1400" dirty="0"/>
              <a:t>函数判断子节点是否</a:t>
            </a:r>
            <a:r>
              <a:rPr lang="en-US" altLang="zh-CN" sz="1400" dirty="0"/>
              <a:t>“</a:t>
            </a:r>
            <a:r>
              <a:rPr lang="zh-CN" altLang="en-US" sz="1400" dirty="0"/>
              <a:t>安全</a:t>
            </a:r>
            <a:r>
              <a:rPr lang="en-US" altLang="zh-CN" sz="1400" dirty="0"/>
              <a:t>”</a:t>
            </a:r>
            <a:r>
              <a:rPr lang="zh-CN" altLang="en-US" sz="1400" dirty="0"/>
              <a:t>。对于查询操作，所有节点都安全；对于插入，节点未满则安全；对于删除，节点超过最小容量则安全。若操作是查询或子节点安全，则立即释放父节点的锁并取消固定（</a:t>
            </a:r>
            <a:r>
              <a:rPr lang="en-US" altLang="zh-CN" sz="1400" dirty="0"/>
              <a:t>Unpin</a:t>
            </a:r>
            <a:r>
              <a:rPr lang="zh-CN" altLang="en-US" sz="1400" dirty="0"/>
              <a:t>），以此缩小锁的持有范围，提升并发度。</a:t>
            </a:r>
            <a:endParaRPr lang="zh-CN" altLang="en-US" sz="1400" dirty="0"/>
          </a:p>
          <a:p>
            <a:pPr algn="just">
              <a:lnSpc>
                <a:spcPct val="130000"/>
              </a:lnSpc>
            </a:pPr>
            <a:endParaRPr lang="en-US" altLang="zh-CN" sz="1400" dirty="0"/>
          </a:p>
          <a:p>
            <a:pPr algn="just">
              <a:lnSpc>
                <a:spcPct val="130000"/>
              </a:lnSpc>
            </a:pPr>
            <a:r>
              <a:rPr lang="zh-CN" altLang="en-US" sz="1400" dirty="0"/>
              <a:t>迭代下移：将当前页面和节点指针更新为子节点，继续循环，直至到达叶子节点并返回。</a:t>
            </a:r>
            <a:endParaRPr lang="zh-CN" altLang="en-US" sz="14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代码逻辑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5925" y="1557655"/>
            <a:ext cx="9827260" cy="49701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关键设计理由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锁类型匹配：查询加读锁（共享），插入</a:t>
            </a:r>
            <a:r>
              <a:rPr lang="en-US" altLang="zh-CN" sz="1600" dirty="0"/>
              <a:t> / </a:t>
            </a:r>
            <a:r>
              <a:rPr lang="zh-CN" altLang="en-US" sz="1600" dirty="0"/>
              <a:t>删除加写锁（排他）；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安全节点释放父锁：减少锁竞争，提升并发性能；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事务页面集合：通过</a:t>
            </a:r>
            <a:r>
              <a:rPr lang="en-US" altLang="zh-CN" sz="1600" dirty="0"/>
              <a:t>transaction-&gt;GetPageSet()</a:t>
            </a:r>
            <a:r>
              <a:rPr lang="zh-CN" altLang="en-US" sz="1600" dirty="0"/>
              <a:t>跟踪持有锁的页面，统一释放，避免锁泄漏；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根节点特殊处理：根节点安全判断更宽松（如删除时</a:t>
            </a:r>
            <a:r>
              <a:rPr lang="en-US" altLang="zh-CN" sz="1600" dirty="0"/>
              <a:t> size&gt;1 </a:t>
            </a:r>
            <a:r>
              <a:rPr lang="zh-CN" altLang="en-US" sz="1600" dirty="0"/>
              <a:t>即安全）；</a:t>
            </a:r>
            <a:endParaRPr lang="zh-CN" altLang="en-US" sz="1600" dirty="0"/>
          </a:p>
          <a:p>
            <a:pPr algn="just">
              <a:lnSpc>
                <a:spcPct val="130000"/>
              </a:lnSpc>
            </a:pPr>
            <a:endParaRPr lang="zh-CN" altLang="en-US" sz="1600" dirty="0"/>
          </a:p>
          <a:p>
            <a:pPr algn="just">
              <a:lnSpc>
                <a:spcPct val="130000"/>
              </a:lnSpc>
            </a:pPr>
            <a:r>
              <a:rPr lang="zh-CN" altLang="en-US" sz="1600" dirty="0"/>
              <a:t>无全局锁：仅对访问路径上的节点加锁，而非整棵树。</a:t>
            </a:r>
            <a:endParaRPr lang="zh-CN" alt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设计理由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3645" y="2183765"/>
            <a:ext cx="4832350" cy="165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BFBFBF"/>
          </a:solidFill>
        </p:spPr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代码设计规范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1231900" y="1330960"/>
          <a:ext cx="9666605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4180"/>
                <a:gridCol w="5432425"/>
              </a:tblGrid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文档要求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代码实现细节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所有数据在叶子节点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插入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/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删除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/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查询均仅操作叶子节点，内部节点仅存索引键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节点有序、完美平衡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插入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/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删除后通过分裂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/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合并维持平衡，键始终有序存储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唯一键支持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插入前检查重复键，重复则返回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false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缓冲池交互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所有页面通过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buffer_pool_manager_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获取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/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释放，操作后取消固定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线程安全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采用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Latch Crabbing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机制，读写锁分离，按顺序加锁避免死锁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禁止全局锁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仅对访问路径上的节点加锁，安全节点提前释放父锁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  <a:tr h="54102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页面资源释放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所有操作后解锁并取消固定页面，避免缓冲池泄漏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14617" marR="114617" marT="76517" marB="76517" anchor="ctr" anchorCtr="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CCCCCC">
                <a:alpha val="83000"/>
              </a:srgbClr>
            </a:gs>
            <a:gs pos="100000">
              <a:srgbClr val="9999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7:54-d2t750lnfo2stf9di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0"/>
            <a:ext cx="12186920" cy="6855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7615" y="4553585"/>
            <a:ext cx="1918970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95415" y="4553585"/>
            <a:ext cx="1918970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15260" y="3214370"/>
            <a:ext cx="6761480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27898" y="188341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2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3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4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5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6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7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8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9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0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1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2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3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4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5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6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7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8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19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20.xml><?xml version="1.0" encoding="utf-8"?>
<p:tagLst xmlns:p="http://schemas.openxmlformats.org/presentationml/2006/main">
  <p:tag name="KSO_WM_DIAGRAM_VIRTUALLY_FRAME" val="{&quot;height&quot;:178.87850393700782,&quot;left&quot;:83.54543307086614,&quot;top&quot;:242.55,&quot;width&quot;:834.954566929134}"/>
</p:tagLst>
</file>

<file path=ppt/tags/tag21.xml><?xml version="1.0" encoding="utf-8"?>
<p:tagLst xmlns:p="http://schemas.openxmlformats.org/presentationml/2006/main">
  <p:tag name="TABLE_ENDDRAG_ORIGIN_RECT" val="700*317"/>
  <p:tag name="TABLE_ENDDRAG_RECT" val="115*153*700*317"/>
</p:tagLst>
</file>

<file path=ppt/tags/tag22.xml><?xml version="1.0" encoding="utf-8"?>
<p:tagLst xmlns:p="http://schemas.openxmlformats.org/presentationml/2006/main">
  <p:tag name="TABLE_ENDDRAG_ORIGIN_RECT" val="714*283"/>
  <p:tag name="TABLE_ENDDRAG_RECT" val="101*138*714*283"/>
</p:tagLst>
</file>

<file path=ppt/tags/tag23.xml><?xml version="1.0" encoding="utf-8"?>
<p:tagLst xmlns:p="http://schemas.openxmlformats.org/presentationml/2006/main">
  <p:tag name="TABLE_ENDDRAG_ORIGIN_RECT" val="760*272"/>
  <p:tag name="TABLE_ENDDRAG_RECT" val="83*171*760*272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8370</Words>
  <Application>WPS 演示</Application>
  <PresentationFormat>On-screen Show (16:9)</PresentationFormat>
  <Paragraphs>522</Paragraphs>
  <Slides>35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</vt:lpstr>
      <vt:lpstr>宋体</vt:lpstr>
      <vt:lpstr>Wingdings</vt:lpstr>
      <vt:lpstr>MiSans</vt:lpstr>
      <vt:lpstr>MiSans</vt:lpstr>
      <vt:lpstr>Inter</vt:lpstr>
      <vt:lpstr>Segoe Print</vt:lpstr>
      <vt:lpstr>Calibri</vt:lpstr>
      <vt:lpstr>微软雅黑</vt:lpstr>
      <vt:lpstr>Arial Unicode MS</vt:lpstr>
      <vt:lpstr>等线</vt:lpstr>
      <vt:lpstr>Inter</vt:lpstr>
      <vt:lpstr>Ink Free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 标题</dc:title>
  <dc:creator>Kimi</dc:creator>
  <dc:subject>Slide 1 标题</dc:subject>
  <cp:lastModifiedBy>사랑</cp:lastModifiedBy>
  <cp:revision>7</cp:revision>
  <dcterms:created xsi:type="dcterms:W3CDTF">2025-12-09T03:12:00Z</dcterms:created>
  <dcterms:modified xsi:type="dcterms:W3CDTF">2025-12-15T06:03:19Z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{"Label":"Slide 1 标题","ContentProducer":"001191110108MACG2KBH8F10000","ProduceID":"d4rp0jqej2dpr7rf4isg","ReservedCode1":"","ContentPropagator":"001191110108MACG2KBH8F20000","PropagateID":"d4rp0jqej2dpr7rf4isg","ReservedCode2":""}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C669B42C28D84C6AABD2BEDBDCDC89BD_13</vt:lpwstr>
  </property>
</Properties>
</file>